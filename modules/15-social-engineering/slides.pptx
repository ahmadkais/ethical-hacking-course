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הנדסה חברתית ופישינג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15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האדם = החוליה החלשה</a:t>
            </a:r>
          </a:p>
          <a:p>
            <a:pPr lvl="0" algn="r" rtl="1"/>
            <a:r>
              <a:rPr/>
              <a:t>עקרונות ההשפעה</a:t>
            </a:r>
          </a:p>
          <a:p>
            <a:pPr lvl="0" algn="r" rtl="1"/>
            <a:r>
              <a:rPr/>
              <a:t>Phishing, Spear, Vishing, Baiting</a:t>
            </a:r>
          </a:p>
          <a:p>
            <a:pPr lvl="0" algn="r" rtl="1"/>
            <a:r>
              <a:rPr/>
              <a:t>OSINT, GoPhish ואתיקה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למה זה חשוב?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~</a:t>
            </a:r>
            <a:r>
              <a:rPr b="1"/>
              <a:t>90% מהפריצות</a:t>
            </a:r>
            <a:r>
              <a:rPr/>
              <a:t> מתחילות בפישינג</a:t>
            </a:r>
          </a:p>
          <a:p>
            <a:pPr lvl="0" algn="r" rtl="1"/>
            <a:r>
              <a:rPr/>
              <a:t>משתמש אחד שלוחץ = עוקף את כל החומות</a:t>
            </a:r>
          </a:p>
          <a:p>
            <a:pPr lvl="0" algn="r" rtl="1"/>
            <a:r>
              <a:rPr/>
              <a:t>PNPT מחייב רכיב הנדסה חברתית</a:t>
            </a:r>
          </a:p>
          <a:p>
            <a:pPr lvl="0" algn="r" rtl="1"/>
            <a:r>
              <a:rPr/>
              <a:t>מנצל רגש, לא באגים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עקרונות ההשפעה (צ’לדיני)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Authority</a:t>
            </a:r>
            <a:r>
              <a:rPr/>
              <a:t> — “המנכ”ל/IT ביקש”</a:t>
            </a:r>
          </a:p>
          <a:p>
            <a:pPr lvl="0" algn="r" rtl="1"/>
            <a:r>
              <a:rPr b="1"/>
              <a:t>Scarcity/Urgency</a:t>
            </a:r>
            <a:r>
              <a:rPr/>
              <a:t> — “רק היום”, “24 שעות”</a:t>
            </a:r>
          </a:p>
          <a:p>
            <a:pPr lvl="0" algn="r" rtl="1"/>
            <a:r>
              <a:rPr b="1"/>
              <a:t>Fear</a:t>
            </a:r>
            <a:r>
              <a:rPr/>
              <a:t> — “זוהתה פעילות חשודה”</a:t>
            </a:r>
          </a:p>
          <a:p>
            <a:pPr lvl="0" algn="r" rtl="1"/>
            <a:r>
              <a:rPr b="1"/>
              <a:t>Social Proof</a:t>
            </a:r>
            <a:r>
              <a:rPr/>
              <a:t> — “כולם כבר עדכנו”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סוגי מתקפות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Phishing</a:t>
            </a:r>
            <a:r>
              <a:rPr/>
              <a:t> — מייל המוני</a:t>
            </a:r>
          </a:p>
          <a:p>
            <a:pPr lvl="0" algn="r" rtl="1"/>
            <a:r>
              <a:rPr b="1"/>
              <a:t>Spear Phishing</a:t>
            </a:r>
            <a:r>
              <a:rPr/>
              <a:t> — ממוקד (הכי יעיל)</a:t>
            </a:r>
          </a:p>
          <a:p>
            <a:pPr lvl="0" algn="r" rtl="1"/>
            <a:r>
              <a:rPr b="1"/>
              <a:t>Whaling</a:t>
            </a:r>
            <a:r>
              <a:rPr/>
              <a:t> — לבכיר · </a:t>
            </a:r>
            <a:r>
              <a:rPr b="1"/>
              <a:t>Vishing</a:t>
            </a:r>
            <a:r>
              <a:rPr/>
              <a:t> — טלפון</a:t>
            </a:r>
          </a:p>
          <a:p>
            <a:pPr lvl="0" algn="r" rtl="1"/>
            <a:r>
              <a:rPr b="1"/>
              <a:t>Pretexting · Baiting · Tailgating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OSINT — איסוף מודיעין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theHarvester -d company.com -b all</a:t>
            </a:r>
          </a:p>
          <a:p>
            <a:pPr lvl="0" algn="r" rtl="1"/>
            <a:r>
              <a:rPr/>
              <a:t>LinkedIn — עובדים, תפקידים, טכנולוגיות</a:t>
            </a:r>
          </a:p>
          <a:p>
            <a:pPr lvl="0" algn="r" rtl="1"/>
            <a:r>
              <a:rPr/>
              <a:t>Google Dorking, GitHub, Maltego</a:t>
            </a:r>
          </a:p>
          <a:p>
            <a:pPr lvl="0" algn="r" rtl="1"/>
            <a:r>
              <a:rPr/>
              <a:t>הבסיס לספיר-פישינג משכנע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אנטומיה של מייל פישינג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שולח מזויף/דומה + נושא דחוף</a:t>
            </a:r>
          </a:p>
          <a:p>
            <a:pPr lvl="0" algn="r" rtl="1"/>
            <a:r>
              <a:rPr/>
              <a:t>מיתוג אמין (לוגו, חתימה)</a:t>
            </a:r>
          </a:p>
          <a:p>
            <a:pPr lvl="0" algn="r" rtl="1"/>
            <a:r>
              <a:rPr/>
              <a:t>קריאה לפעולה (לינק/קובץ)</a:t>
            </a:r>
          </a:p>
          <a:p>
            <a:pPr lvl="0" algn="r" rtl="1"/>
            <a:r>
              <a:rPr/>
              <a:t>דף נחיתה מזויף שגונב פרטים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סימני זיהוי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דומיין שולח שגוי במעט</a:t>
            </a:r>
          </a:p>
          <a:p>
            <a:pPr lvl="0" algn="r" rtl="1"/>
            <a:r>
              <a:rPr/>
              <a:t>דחיפות ואיומים</a:t>
            </a:r>
          </a:p>
          <a:p>
            <a:pPr lvl="0" algn="r" rtl="1"/>
            <a:r>
              <a:rPr/>
              <a:t>שגיאות כתיב / תרגום מכונה</a:t>
            </a:r>
          </a:p>
          <a:p>
            <a:pPr lvl="0" algn="r" rtl="1"/>
            <a:r>
              <a:rPr/>
              <a:t>לינק שה-URL שונה מהטקסט (רחף!)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GoPhish — קמפיין מבוקר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Sending Profile + Landing Page</a:t>
            </a:r>
          </a:p>
          <a:p>
            <a:pPr lvl="0" algn="r" rtl="1"/>
            <a:r>
              <a:rPr/>
              <a:t>Email Template + Users/Groups</a:t>
            </a:r>
          </a:p>
          <a:p>
            <a:pPr lvl="0" algn="r" rtl="1"/>
            <a:r>
              <a:rPr/>
              <a:t>מודד: פתיחה / לחיצה / מסירת פרטים</a:t>
            </a:r>
          </a:p>
          <a:p>
            <a:pPr lvl="0" algn="r" rtl="1"/>
            <a:r>
              <a:rPr/>
              <a:t>דוח מדדים למודעות עובדים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כלים נוספים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SET</a:t>
            </a:r>
            <a:r>
              <a:rPr/>
              <a:t> — Credential Harvester, Payloads</a:t>
            </a:r>
          </a:p>
          <a:p>
            <a:pPr lvl="0" algn="r" rtl="1"/>
            <a:r>
              <a:rPr b="1"/>
              <a:t>evilginx2</a:t>
            </a:r>
            <a:r>
              <a:rPr/>
              <a:t> — עוקף </a:t>
            </a:r>
            <a:r>
              <a:rPr b="1"/>
              <a:t>MFA</a:t>
            </a:r>
            <a:r>
              <a:rPr/>
              <a:t> (גונב session)</a:t>
            </a:r>
          </a:p>
          <a:p>
            <a:pPr lvl="0" algn="r" rtl="1"/>
            <a:r>
              <a:rPr b="1"/>
              <a:t>King Phisher</a:t>
            </a:r>
            <a:r>
              <a:rPr/>
              <a:t> — חלופה</a:t>
            </a:r>
          </a:p>
          <a:p>
            <a:pPr lvl="0" algn="r" rtl="1"/>
            <a:r>
              <a:rPr/>
              <a:t>מדגים ש-2FA לא כדור כסף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אתיקה — קריטי כאן!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הרשאה בכתב + Scope ברור</a:t>
            </a:r>
          </a:p>
          <a:p>
            <a:pPr lvl="0" algn="r" rtl="1"/>
            <a:r>
              <a:rPr/>
              <a:t>אל תשפיל/תלחיץ מעבר לנדרש</a:t>
            </a:r>
          </a:p>
          <a:p>
            <a:pPr lvl="0" algn="r" rtl="1"/>
            <a:r>
              <a:rPr b="1"/>
              <a:t>דיווח מרוכז ללא שמות</a:t>
            </a:r>
          </a:p>
          <a:p>
            <a:pPr lvl="0" algn="r" rtl="1"/>
            <a:r>
              <a:rPr/>
              <a:t>מטרה: חינוך, לא ענישה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הדרכות מודעות</a:t>
            </a:r>
            <a:r>
              <a:rPr/>
              <a:t> + סימולציות</a:t>
            </a:r>
          </a:p>
          <a:p>
            <a:pPr lvl="0" algn="r" rtl="1"/>
            <a:r>
              <a:rPr b="1"/>
              <a:t>MFA</a:t>
            </a:r>
            <a:r>
              <a:rPr/>
              <a:t> בכל מקום</a:t>
            </a:r>
          </a:p>
          <a:p>
            <a:pPr lvl="0" algn="r" rtl="1"/>
            <a:r>
              <a:rPr/>
              <a:t>סינון מייל (SPF/DKIM/DMARC)</a:t>
            </a:r>
          </a:p>
          <a:p>
            <a:pPr lvl="0" algn="r" rtl="1"/>
            <a:r>
              <a:rPr/>
              <a:t>תרבות “שאל אם לא בטוח”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האדם = היעד הקל; 90% מהפריצות = פישינג</a:t>
            </a:r>
          </a:p>
          <a:p>
            <a:pPr lvl="0" algn="r" rtl="1"/>
            <a:r>
              <a:rPr/>
              <a:t>עקרונות: סמכות + דחיפות</a:t>
            </a:r>
          </a:p>
          <a:p>
            <a:pPr lvl="0" algn="r" rtl="1"/>
            <a:r>
              <a:rPr/>
              <a:t>OSINT → Spear Phishing → GoPhish</a:t>
            </a:r>
          </a:p>
          <a:p>
            <a:pPr lvl="0" algn="r" rtl="1"/>
            <a:r>
              <a:rPr/>
              <a:t>אתיקה: הרשאה, ללא שיימינג; הגנה: MFA + הדרכה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2026-09-29T11:07:11Z</dcterms:created>
  <dcterms:modified xsi:type="dcterms:W3CDTF">2026-09-29T11:07:11Z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