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כתיבת דוח ותיעוד (Reporting)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16 — האקינג אתי מהיסוד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הדוח = המוצר של הבדיקה</a:t>
            </a:r>
          </a:p>
          <a:p>
            <a:pPr lvl="0" algn="r" rtl="1"/>
            <a:r>
              <a:rPr/>
              <a:t>מבנה דוח ו-Executive Summary</a:t>
            </a:r>
          </a:p>
          <a:p>
            <a:pPr lvl="0" algn="r" rtl="1"/>
            <a:r>
              <a:rPr/>
              <a:t>כתיבת ממצא, CVSS, המלצות</a:t>
            </a:r>
          </a:p>
          <a:p>
            <a:pPr lvl="0" algn="r" rtl="1"/>
            <a:r>
              <a:rPr/>
              <a:t>תיעוד תוך-כדי וכלים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למה הדוח הוא המוצר?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הלקוח לא רואה אותך פורץ — רק את הדוח</a:t>
            </a:r>
          </a:p>
          <a:p>
            <a:pPr lvl="0" algn="r" rtl="1"/>
            <a:r>
              <a:rPr/>
              <a:t>בדיקה מבריקה + דוח גרוע = כישלון</a:t>
            </a:r>
          </a:p>
          <a:p>
            <a:pPr lvl="0" algn="r" rtl="1"/>
            <a:r>
              <a:rPr/>
              <a:t>~30% מהזמן → תיעוד ודוח</a:t>
            </a:r>
          </a:p>
          <a:p>
            <a:pPr lvl="0" algn="r" rtl="1"/>
            <a:r>
              <a:rPr b="1"/>
              <a:t>חלק מהציון ב-PNPT/OSCP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שלבי הבדיקה סביב הדוח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Pre-Engagement</a:t>
            </a:r>
            <a:r>
              <a:rPr/>
              <a:t> — Scope, RoE, הרשאה</a:t>
            </a:r>
          </a:p>
          <a:p>
            <a:pPr lvl="0" algn="r" rtl="1"/>
            <a:r>
              <a:rPr b="1"/>
              <a:t>תיעוד תוך-כדי</a:t>
            </a:r>
            <a:r>
              <a:rPr/>
              <a:t> — בזמן אמת!</a:t>
            </a:r>
          </a:p>
          <a:p>
            <a:pPr lvl="0" algn="r" rtl="1"/>
            <a:r>
              <a:rPr b="1"/>
              <a:t>Reporting</a:t>
            </a:r>
            <a:r>
              <a:rPr/>
              <a:t> — ארגון וכתיבה</a:t>
            </a:r>
          </a:p>
          <a:p>
            <a:pPr lvl="0" algn="r" rtl="1"/>
            <a:r>
              <a:rPr b="1"/>
              <a:t>Debrief</a:t>
            </a:r>
            <a:r>
              <a:rPr/>
              <a:t> + </a:t>
            </a:r>
            <a:r>
              <a:rPr b="1"/>
              <a:t>Retest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מבנה הדוח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שער ופרטים + סיווג</a:t>
            </a:r>
          </a:p>
          <a:p>
            <a:pPr lvl="0" algn="r" rtl="1"/>
            <a:r>
              <a:rPr b="1"/>
              <a:t>Executive Summary</a:t>
            </a:r>
          </a:p>
          <a:p>
            <a:pPr lvl="0" algn="r" rtl="1"/>
            <a:r>
              <a:rPr/>
              <a:t>היקף ומתודולוגיה</a:t>
            </a:r>
          </a:p>
          <a:p>
            <a:pPr lvl="0" algn="r" rtl="1"/>
            <a:r>
              <a:rPr/>
              <a:t>סיכום ממצאים → ממצאים מפורטים → נספחים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שני קהלים, שתי שפות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הנהלה</a:t>
            </a:r>
            <a:r>
              <a:rPr/>
              <a:t> → Executive Summary (עסקי)</a:t>
            </a:r>
          </a:p>
          <a:p>
            <a:pPr lvl="0" algn="r" rtl="1"/>
            <a:r>
              <a:rPr b="1"/>
              <a:t>צוות IT</a:t>
            </a:r>
            <a:r>
              <a:rPr/>
              <a:t> → ממצאים מפורטים (טכני)</a:t>
            </a:r>
          </a:p>
          <a:p>
            <a:pPr lvl="0" algn="r" rtl="1"/>
            <a:r>
              <a:rPr/>
              <a:t>הדוח משרת את שניהם</a:t>
            </a:r>
          </a:p>
          <a:p>
            <a:pPr lvl="0" algn="r" rtl="1"/>
            <a:r>
              <a:rPr/>
              <a:t>אותו סיפור, שתי שפות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הדף החשוב ביותר — למקבל ההחלטות</a:t>
            </a:r>
          </a:p>
          <a:p>
            <a:pPr lvl="0" algn="r" rtl="1"/>
            <a:r>
              <a:rPr/>
              <a:t>מה נבדק + תמונת מצב + סיכון עסקי</a:t>
            </a:r>
          </a:p>
          <a:p>
            <a:pPr lvl="0" algn="r" rtl="1"/>
            <a:r>
              <a:rPr/>
              <a:t>3-5 המלצות מפתח</a:t>
            </a:r>
          </a:p>
          <a:p>
            <a:pPr lvl="0" algn="r" rtl="1"/>
            <a:r>
              <a:rPr b="1"/>
              <a:t>שפה עסקית, לא ז’רגון!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כתיבת ממצא מקצועי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תיאור</a:t>
            </a:r>
            <a:r>
              <a:rPr/>
              <a:t> — מה ואיפה</a:t>
            </a:r>
          </a:p>
          <a:p>
            <a:pPr lvl="0" algn="r" rtl="1"/>
            <a:r>
              <a:rPr b="1"/>
              <a:t>השפעה</a:t>
            </a:r>
            <a:r>
              <a:rPr/>
              <a:t> — מה תוקף יכול</a:t>
            </a:r>
          </a:p>
          <a:p>
            <a:pPr lvl="0" algn="r" rtl="1"/>
            <a:r>
              <a:rPr b="1"/>
              <a:t>PoC</a:t>
            </a:r>
            <a:r>
              <a:rPr/>
              <a:t> — צעדים + צילומים</a:t>
            </a:r>
          </a:p>
          <a:p>
            <a:pPr lvl="0" algn="r" rtl="1"/>
            <a:r>
              <a:rPr b="1"/>
              <a:t>תיקון</a:t>
            </a:r>
            <a:r>
              <a:rPr/>
              <a:t> + </a:t>
            </a:r>
            <a:r>
              <a:rPr b="1"/>
              <a:t>הפניות</a:t>
            </a:r>
            <a:r>
              <a:rPr/>
              <a:t> (CVE/OWASP)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דירוג חומרה — CVSS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ציון 0-10 לכל חולשה</a:t>
            </a:r>
          </a:p>
          <a:p>
            <a:pPr lvl="0" algn="r" rtl="1"/>
            <a:r>
              <a:rPr b="1"/>
              <a:t>Critical</a:t>
            </a:r>
            <a:r>
              <a:rPr/>
              <a:t> 9-10 · </a:t>
            </a:r>
            <a:r>
              <a:rPr b="1"/>
              <a:t>High</a:t>
            </a:r>
            <a:r>
              <a:rPr/>
              <a:t> 7-8.9</a:t>
            </a:r>
          </a:p>
          <a:p>
            <a:pPr lvl="0" algn="r" rtl="1"/>
            <a:r>
              <a:rPr b="1"/>
              <a:t>Medium</a:t>
            </a:r>
            <a:r>
              <a:rPr/>
              <a:t> 4-6.9 · </a:t>
            </a:r>
            <a:r>
              <a:rPr b="1"/>
              <a:t>Low</a:t>
            </a:r>
            <a:r>
              <a:rPr/>
              <a:t> 0.1-3.9</a:t>
            </a:r>
          </a:p>
          <a:p>
            <a:pPr lvl="0" algn="r" rtl="1"/>
            <a:r>
              <a:rPr/>
              <a:t>דרג לפי </a:t>
            </a:r>
            <a:r>
              <a:rPr b="1"/>
              <a:t>סיכון עסקי</a:t>
            </a:r>
            <a:r>
              <a:rPr/>
              <a:t>, לא רק ציון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המלצות תיקון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ספציפי וישים</a:t>
            </a:r>
            <a:r>
              <a:rPr/>
              <a:t> — לא “שפר אבטחה”</a:t>
            </a:r>
          </a:p>
          <a:p>
            <a:pPr lvl="0" algn="r" rtl="1"/>
            <a:r>
              <a:rPr/>
              <a:t>מדורג לפי עדיפות (Critical קודם)</a:t>
            </a:r>
          </a:p>
          <a:p>
            <a:pPr lvl="0" algn="r" rtl="1"/>
            <a:r>
              <a:rPr/>
              <a:t>קצר טווח (patch) + ארוך (מבני)</a:t>
            </a:r>
          </a:p>
          <a:p>
            <a:pPr lvl="0" algn="r" rtl="1"/>
            <a:r>
              <a:rPr/>
              <a:t>מקושר לכל ממצא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תיעוד תוך-כדי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צילומי מסך (Flameshot)</a:t>
            </a:r>
          </a:p>
          <a:p>
            <a:pPr lvl="0" algn="r" rtl="1"/>
            <a:r>
              <a:rPr/>
              <a:t>לוג פקודות (script/tmux)</a:t>
            </a:r>
          </a:p>
          <a:p>
            <a:pPr lvl="0" algn="r" rtl="1"/>
            <a:r>
              <a:rPr/>
              <a:t>CherryTree / Obsidian / Sysreptor</a:t>
            </a:r>
          </a:p>
          <a:p>
            <a:pPr lvl="0" algn="r" rtl="1"/>
            <a:r>
              <a:rPr/>
              <a:t>כתוב מיד — לא מהזיכרון בסוף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הדוח הוא המוצר — השקע בו</a:t>
            </a:r>
          </a:p>
          <a:p>
            <a:pPr lvl="0" algn="r" rtl="1"/>
            <a:r>
              <a:rPr/>
              <a:t>Executive (עסקי) + ממצאים (טכני)</a:t>
            </a:r>
          </a:p>
          <a:p>
            <a:pPr lvl="0" algn="r" rtl="1"/>
            <a:r>
              <a:rPr/>
              <a:t>ממצא: תיאור → השפעה → PoC → תיקון; CVSS</a:t>
            </a:r>
          </a:p>
          <a:p>
            <a:pPr lvl="0" algn="r" rtl="1"/>
            <a:r>
              <a:rPr/>
              <a:t>תעד בזמן אמת</a:t>
            </a:r>
          </a:p>
          <a:p>
            <a:pPr lvl="0" algn="r" rtl="1"/>
            <a:r>
              <a:rPr b="1"/>
              <a:t>תרגול</a:t>
            </a:r>
            <a:r>
              <a:rPr/>
              <a:t> → </a:t>
            </a:r>
            <a:r>
              <a:rPr>
                <a:latin typeface="Courier"/>
              </a:rPr>
              <a:t>practice.md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🎓 מזל טוב — סיימת את הקורס!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עברת את כל שרשרת התקיפה</a:t>
            </a:r>
          </a:p>
          <a:p>
            <a:pPr lvl="0" algn="r" rtl="1"/>
            <a:r>
              <a:rPr/>
              <a:t>ממבוא ומעבדה עד הדוח המקצועי</a:t>
            </a:r>
          </a:p>
          <a:p>
            <a:pPr lvl="0" algn="r" rtl="1"/>
            <a:r>
              <a:rPr/>
              <a:t>הבא: </a:t>
            </a:r>
            <a:r>
              <a:rPr b="1"/>
              <a:t>מבחן מעשי מסכם</a:t>
            </a:r>
          </a:p>
          <a:p>
            <a:pPr lvl="0" algn="r" rtl="1"/>
            <a:r>
              <a:rPr/>
              <a:t>מסלול המשך: </a:t>
            </a:r>
            <a:r>
              <a:rPr b="1"/>
              <a:t>eJPT → PNPT → OSCP</a:t>
            </a:r>
            <a:r>
              <a:rPr/>
              <a:t> 🚀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2026-09-29T11:09:23Z</dcterms:created>
  <dcterms:modified xsi:type="dcterms:W3CDTF">2026-09-29T11:09:23Z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