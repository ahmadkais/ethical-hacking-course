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יסודות רשתות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3 — Networking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מודל OSI ומחסנית TCP/IP</a:t>
            </a:r>
          </a:p>
          <a:p>
            <a:pPr lvl="0" algn="r" rtl="1"/>
            <a:r>
              <a:rPr/>
              <a:t>TCP מול UDP ולחיצת היד</a:t>
            </a:r>
          </a:p>
          <a:p>
            <a:pPr lvl="0" algn="r" rtl="1"/>
            <a:r>
              <a:rPr/>
              <a:t>פורטים ופרוטוקולים נפוצים</a:t>
            </a:r>
          </a:p>
          <a:p>
            <a:pPr lvl="0" algn="r" rtl="1"/>
            <a:r>
              <a:rPr/>
              <a:t>כתובות IP ו-Subnetting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מודל OSI — 7 שכבות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7 Application</a:t>
            </a:r>
            <a:r>
              <a:rPr/>
              <a:t> — HTTP, DNS, FTP</a:t>
            </a:r>
          </a:p>
          <a:p>
            <a:pPr lvl="0" algn="r" rtl="1"/>
            <a:r>
              <a:rPr b="1"/>
              <a:t>6 Presentation</a:t>
            </a:r>
            <a:r>
              <a:rPr/>
              <a:t> — TLS/SSL</a:t>
            </a:r>
          </a:p>
          <a:p>
            <a:pPr lvl="0" algn="r" rtl="1"/>
            <a:r>
              <a:rPr b="1"/>
              <a:t>5 Session</a:t>
            </a:r>
            <a:r>
              <a:rPr/>
              <a:t> — RPC, NetBIOS</a:t>
            </a:r>
          </a:p>
          <a:p>
            <a:pPr lvl="0" algn="r" rtl="1"/>
            <a:r>
              <a:rPr b="1"/>
              <a:t>4 Transport</a:t>
            </a:r>
            <a:r>
              <a:rPr/>
              <a:t> — TCP, UDP</a:t>
            </a:r>
          </a:p>
          <a:p>
            <a:pPr lvl="0" algn="r" rtl="1"/>
            <a:r>
              <a:rPr b="1"/>
              <a:t>3 Network</a:t>
            </a:r>
            <a:r>
              <a:rPr/>
              <a:t> — IP, ICMP</a:t>
            </a:r>
          </a:p>
          <a:p>
            <a:pPr lvl="0" algn="r" rtl="1"/>
            <a:r>
              <a:rPr b="1"/>
              <a:t>2 Data Link</a:t>
            </a:r>
            <a:r>
              <a:rPr/>
              <a:t> — Ethernet, ARP</a:t>
            </a:r>
          </a:p>
          <a:p>
            <a:pPr lvl="0" algn="r" rtl="1"/>
            <a:r>
              <a:rPr b="1"/>
              <a:t>1 Physical</a:t>
            </a:r>
            <a:r>
              <a:rPr/>
              <a:t> — כבלים, Wi-Fi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TCP מול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TCP</a:t>
            </a:r>
            <a:r>
              <a:rPr/>
              <a:t> — אמין, מבוסס-חיבור, לחיצת יד</a:t>
            </a:r>
          </a:p>
          <a:p>
            <a:pPr lvl="0" algn="r" rtl="1"/>
            <a:r>
              <a:rPr b="1"/>
              <a:t>UDP</a:t>
            </a:r>
            <a:r>
              <a:rPr/>
              <a:t> — מהיר, ללא חיבור, “יורה ושוכח”</a:t>
            </a:r>
          </a:p>
          <a:p>
            <a:pPr lvl="0" algn="r" rtl="1"/>
            <a:r>
              <a:rPr/>
              <a:t>TCP: דפדוף, מייל, קבצים</a:t>
            </a:r>
          </a:p>
          <a:p>
            <a:pPr lvl="0" algn="r" rtl="1"/>
            <a:r>
              <a:rPr/>
              <a:t>UDP: DNS, סטרימינג, VoIP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לחיצת יד תלת-שלבית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1. SYN</a:t>
            </a:r>
            <a:r>
              <a:rPr/>
              <a:t> — הלקוח מבקש חיבור</a:t>
            </a:r>
          </a:p>
          <a:p>
            <a:pPr lvl="0" algn="r" rtl="1"/>
            <a:r>
              <a:rPr b="1"/>
              <a:t>2. SYN-ACK</a:t>
            </a:r>
            <a:r>
              <a:rPr/>
              <a:t> — השרת מאשר</a:t>
            </a:r>
          </a:p>
          <a:p>
            <a:pPr lvl="0" algn="r" rtl="1"/>
            <a:r>
              <a:rPr b="1"/>
              <a:t>3. ACK</a:t>
            </a:r>
            <a:r>
              <a:rPr/>
              <a:t> — החיבור נפתח</a:t>
            </a:r>
          </a:p>
          <a:p>
            <a:pPr lvl="0" algn="r" rtl="1"/>
            <a:r>
              <a:rPr/>
              <a:t>🔍 בסיס לסריקת פורטים: SYN-ACK = פתוח, RST = סגור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פורטים נפוצים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21</a:t>
            </a:r>
            <a:r>
              <a:rPr/>
              <a:t> FTP · </a:t>
            </a:r>
            <a:r>
              <a:rPr b="1"/>
              <a:t>22</a:t>
            </a:r>
            <a:r>
              <a:rPr/>
              <a:t> SSH · </a:t>
            </a:r>
            <a:r>
              <a:rPr b="1"/>
              <a:t>23</a:t>
            </a:r>
            <a:r>
              <a:rPr/>
              <a:t> Telnet</a:t>
            </a:r>
          </a:p>
          <a:p>
            <a:pPr lvl="0" algn="r" rtl="1"/>
            <a:r>
              <a:rPr b="1"/>
              <a:t>25</a:t>
            </a:r>
            <a:r>
              <a:rPr/>
              <a:t> SMTP · </a:t>
            </a:r>
            <a:r>
              <a:rPr b="1"/>
              <a:t>53</a:t>
            </a:r>
            <a:r>
              <a:rPr/>
              <a:t> DNS</a:t>
            </a:r>
          </a:p>
          <a:p>
            <a:pPr lvl="0" algn="r" rtl="1"/>
            <a:r>
              <a:rPr b="1"/>
              <a:t>80</a:t>
            </a:r>
            <a:r>
              <a:rPr/>
              <a:t> HTTP · </a:t>
            </a:r>
            <a:r>
              <a:rPr b="1"/>
              <a:t>443</a:t>
            </a:r>
            <a:r>
              <a:rPr/>
              <a:t> HTTPS</a:t>
            </a:r>
          </a:p>
          <a:p>
            <a:pPr lvl="0" algn="r" rtl="1"/>
            <a:r>
              <a:rPr b="1"/>
              <a:t>139/445</a:t>
            </a:r>
            <a:r>
              <a:rPr/>
              <a:t> SMB · </a:t>
            </a:r>
            <a:r>
              <a:rPr b="1"/>
              <a:t>3389</a:t>
            </a:r>
            <a:r>
              <a:rPr/>
              <a:t> RDP</a:t>
            </a:r>
          </a:p>
          <a:p>
            <a:pPr lvl="0" algn="r" rtl="1"/>
            <a:r>
              <a:rPr/>
              <a:t>זיהוי פורטים = מיפוי משטח התקיפה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כתובות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IPv4</a:t>
            </a:r>
            <a:r>
              <a:rPr/>
              <a:t> — </a:t>
            </a:r>
            <a:r>
              <a:rPr>
                <a:latin typeface="Courier"/>
              </a:rPr>
              <a:t>192.168.1.10</a:t>
            </a:r>
            <a:r>
              <a:rPr/>
              <a:t> (32 סיביות)</a:t>
            </a:r>
          </a:p>
          <a:p>
            <a:pPr lvl="0" algn="r" rtl="1"/>
            <a:r>
              <a:rPr b="1"/>
              <a:t>IPv6</a:t>
            </a:r>
            <a:r>
              <a:rPr/>
              <a:t> — פורמט חדש (128 סיביות)</a:t>
            </a:r>
          </a:p>
          <a:p>
            <a:pPr lvl="0" algn="r" rtl="1"/>
            <a:r>
              <a:rPr b="1"/>
              <a:t>פרטיות:</a:t>
            </a:r>
            <a:r>
              <a:rPr/>
              <a:t> 10.x / 172.16-31.x / 192.168.x</a:t>
            </a:r>
          </a:p>
          <a:p>
            <a:pPr lvl="0" algn="r" rtl="1"/>
            <a:r>
              <a:rPr b="1"/>
              <a:t>MAC</a:t>
            </a:r>
            <a:r>
              <a:rPr/>
              <a:t> — כתובת פיזית (ניתנת לזיוף)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Subnetting ו-CIDR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חלוקת רשת לתת-רשתות</a:t>
            </a:r>
          </a:p>
          <a:p>
            <a:pPr lvl="0" algn="r" rtl="1"/>
            <a:r>
              <a:rPr b="1">
                <a:latin typeface="Courier"/>
              </a:rPr>
              <a:t>/24</a:t>
            </a:r>
            <a:r>
              <a:rPr/>
              <a:t> = 256 כתובות (255.255.255.0)</a:t>
            </a:r>
          </a:p>
          <a:p>
            <a:pPr lvl="0" algn="r" rtl="1"/>
            <a:r>
              <a:rPr b="1">
                <a:latin typeface="Courier"/>
              </a:rPr>
              <a:t>/16</a:t>
            </a:r>
            <a:r>
              <a:rPr/>
              <a:t> = 65,536 · </a:t>
            </a:r>
            <a:r>
              <a:rPr b="1">
                <a:latin typeface="Courier"/>
              </a:rPr>
              <a:t>/8</a:t>
            </a:r>
            <a:r>
              <a:rPr/>
              <a:t> = ~16.7M</a:t>
            </a:r>
          </a:p>
          <a:p>
            <a:pPr lvl="0" algn="r" rtl="1"/>
            <a:r>
              <a:rPr/>
              <a:t>דוגמה: </a:t>
            </a:r>
            <a:r>
              <a:rPr>
                <a:latin typeface="Courier"/>
              </a:rPr>
              <a:t>nmap 192.168.1.0/24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פרוטוקולי עזר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DNS</a:t>
            </a:r>
            <a:r>
              <a:rPr/>
              <a:t> — שם ← כתובת IP</a:t>
            </a:r>
          </a:p>
          <a:p>
            <a:pPr lvl="0" algn="r" rtl="1"/>
            <a:r>
              <a:rPr b="1"/>
              <a:t>ARP</a:t>
            </a:r>
            <a:r>
              <a:rPr/>
              <a:t> — IP ← MAC (בסיס ל-MITM)</a:t>
            </a:r>
          </a:p>
          <a:p>
            <a:pPr lvl="0" algn="r" rtl="1"/>
            <a:r>
              <a:rPr b="1"/>
              <a:t>ICMP</a:t>
            </a:r>
            <a:r>
              <a:rPr/>
              <a:t> — </a:t>
            </a:r>
            <a:r>
              <a:rPr>
                <a:latin typeface="Courier"/>
              </a:rPr>
              <a:t>ping</a:t>
            </a:r>
            <a:r>
              <a:rPr/>
              <a:t>, בדיקת מארח חי</a:t>
            </a:r>
          </a:p>
          <a:p>
            <a:pPr lvl="0" algn="r" rtl="1"/>
            <a:r>
              <a:rPr b="1"/>
              <a:t>DHCP</a:t>
            </a:r>
            <a:r>
              <a:rPr/>
              <a:t> — חלוקת כתובות אוטומטית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OSI ו-TCP/IP מתארים תקשורת ברשת</a:t>
            </a:r>
          </a:p>
          <a:p>
            <a:pPr lvl="0" algn="r" rtl="1"/>
            <a:r>
              <a:rPr/>
              <a:t>TCP אמין, UDP מהיר</a:t>
            </a:r>
          </a:p>
          <a:p>
            <a:pPr lvl="0" algn="r" rtl="1"/>
            <a:r>
              <a:rPr/>
              <a:t>פורטים = דלתות השירותים</a:t>
            </a:r>
          </a:p>
          <a:p>
            <a:pPr lvl="0" algn="r" rtl="1"/>
            <a:r>
              <a:rPr/>
              <a:t>IP + Subnetting = גבולות הרשת שנסרוק</a:t>
            </a:r>
          </a:p>
          <a:p>
            <a:pPr lvl="0" algn="r" rtl="1"/>
            <a:r>
              <a:rPr b="1"/>
              <a:t>תרגול:</a:t>
            </a:r>
            <a:r>
              <a:rPr/>
              <a:t> </a:t>
            </a:r>
            <a:r>
              <a:rPr>
                <a:latin typeface="Courier"/>
              </a:rPr>
              <a:t>ip a</a:t>
            </a:r>
            <a:r>
              <a:rPr/>
              <a:t>, </a:t>
            </a:r>
            <a:r>
              <a:rPr>
                <a:latin typeface="Courier"/>
              </a:rPr>
              <a:t>ping</a:t>
            </a:r>
            <a:r>
              <a:rPr/>
              <a:t>, Wireshark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2026-09-29T11:19:59Z</dcterms:created>
  <dcterms:modified xsi:type="dcterms:W3CDTF">2026-09-29T11:19:59Z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