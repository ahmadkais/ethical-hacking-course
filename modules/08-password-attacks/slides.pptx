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מתקפות סיסמאות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8 — Password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סוגי מתקפות: מקוון מול לא-מקוון</a:t>
            </a:r>
          </a:p>
          <a:p>
            <a:pPr lvl="0" algn="r" rtl="1"/>
            <a:r>
              <a:rPr/>
              <a:t>Hashes ו-Wordlists</a:t>
            </a:r>
          </a:p>
          <a:p>
            <a:pPr lvl="0" algn="r" rtl="1"/>
            <a:r>
              <a:rPr/>
              <a:t>Hydra · John · Hashcat</a:t>
            </a:r>
          </a:p>
          <a:p>
            <a:pPr lvl="0" algn="r" rtl="1"/>
            <a:r>
              <a:rPr/>
              <a:t>Spraying מול Stuffing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סוגי מתקפות סיסמה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Brute Force</a:t>
            </a:r>
            <a:r>
              <a:rPr/>
              <a:t> — כל הצירופים</a:t>
            </a:r>
          </a:p>
          <a:p>
            <a:pPr lvl="0" algn="r" rtl="1"/>
            <a:r>
              <a:rPr b="1"/>
              <a:t>Dictionary</a:t>
            </a:r>
            <a:r>
              <a:rPr/>
              <a:t> — מרשימה (rockyou)</a:t>
            </a:r>
          </a:p>
          <a:p>
            <a:pPr lvl="0" algn="r" rtl="1"/>
            <a:r>
              <a:rPr b="1"/>
              <a:t>Password Spraying</a:t>
            </a:r>
            <a:r>
              <a:rPr/>
              <a:t> — סיסמה אחת נגד רבים</a:t>
            </a:r>
          </a:p>
          <a:p>
            <a:pPr lvl="0" algn="r" rtl="1"/>
            <a:r>
              <a:rPr b="1"/>
              <a:t>Credential Stuffing</a:t>
            </a:r>
            <a:r>
              <a:rPr/>
              <a:t> — פרטים שדלפו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מקוון מול לא-מקוון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מקוון</a:t>
            </a:r>
            <a:r>
              <a:rPr/>
              <a:t> — שירות חי (SSH/FTP/web); איטי, רועש, נועל</a:t>
            </a:r>
          </a:p>
          <a:p>
            <a:pPr lvl="0" algn="r" rtl="1"/>
            <a:r>
              <a:rPr b="1"/>
              <a:t>לא-מקוון</a:t>
            </a:r>
            <a:r>
              <a:rPr/>
              <a:t> — סדיקת Hash שהושג; מהיר, שקט</a:t>
            </a:r>
          </a:p>
          <a:p>
            <a:pPr lvl="0" algn="r" rtl="1"/>
            <a:r>
              <a:rPr/>
              <a:t>מקוון = Hydra</a:t>
            </a:r>
          </a:p>
          <a:p>
            <a:pPr lvl="0" algn="r" rtl="1"/>
            <a:r>
              <a:rPr/>
              <a:t>לא-מקוון = John / Hashcat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Hash — טביעת אצבע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חד-כיווני — לא ניתן “להפוך”</a:t>
            </a:r>
          </a:p>
          <a:p>
            <a:pPr lvl="0" algn="r" rtl="1"/>
            <a:r>
              <a:rPr/>
              <a:t>סודקים ע”י ניחוש → חישוב → השוואה</a:t>
            </a:r>
          </a:p>
          <a:p>
            <a:pPr lvl="0" algn="r" rtl="1"/>
            <a:r>
              <a:rPr/>
              <a:t>MD5, SHA, </a:t>
            </a:r>
            <a:r>
              <a:rPr b="1"/>
              <a:t>NTLM</a:t>
            </a:r>
            <a:r>
              <a:rPr/>
              <a:t> (Windows), bcrypt</a:t>
            </a:r>
          </a:p>
          <a:p>
            <a:pPr lvl="0" algn="r" rtl="1"/>
            <a:r>
              <a:rPr>
                <a:latin typeface="Courier"/>
              </a:rPr>
              <a:t>hashid &lt;hash&gt;</a:t>
            </a:r>
            <a:r>
              <a:rPr/>
              <a:t> — זיהוי הסוג (קריטי!)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Wordlists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rockyou.txt</a:t>
            </a:r>
            <a:r>
              <a:rPr/>
              <a:t> — 14M סיסמאות (</a:t>
            </a:r>
            <a:r>
              <a:rPr>
                <a:latin typeface="Courier"/>
              </a:rPr>
              <a:t>/usr/share/wordlists</a:t>
            </a:r>
            <a:r>
              <a:rPr/>
              <a:t>)</a:t>
            </a:r>
          </a:p>
          <a:p>
            <a:pPr lvl="0" algn="r" rtl="1"/>
            <a:r>
              <a:rPr b="1"/>
              <a:t>SecLists</a:t>
            </a:r>
            <a:r>
              <a:rPr/>
              <a:t> — אוסף ענק (</a:t>
            </a:r>
            <a:r>
              <a:rPr>
                <a:latin typeface="Courier"/>
              </a:rPr>
              <a:t>apt install seclists</a:t>
            </a:r>
            <a:r>
              <a:rPr/>
              <a:t>)</a:t>
            </a:r>
          </a:p>
          <a:p>
            <a:pPr lvl="0" algn="r" rtl="1"/>
            <a:r>
              <a:rPr/>
              <a:t>מותאם: </a:t>
            </a:r>
            <a:r>
              <a:rPr>
                <a:latin typeface="Courier"/>
              </a:rPr>
              <a:t>cewl</a:t>
            </a:r>
            <a:r>
              <a:rPr/>
              <a:t> (מאתר), </a:t>
            </a:r>
            <a:r>
              <a:rPr>
                <a:latin typeface="Courier"/>
              </a:rPr>
              <a:t>crunch</a:t>
            </a:r>
            <a:r>
              <a:rPr/>
              <a:t> (צירופים)</a:t>
            </a:r>
          </a:p>
          <a:p>
            <a:pPr lvl="0" algn="r" rtl="1"/>
            <a:r>
              <a:rPr/>
              <a:t>איכות הרשימה = הצלחת המתקפה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Hydra — מקוון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hydra -l user -P wordlist ssh://target</a:t>
            </a:r>
          </a:p>
          <a:p>
            <a:pPr lvl="0" algn="r" rtl="1"/>
            <a:r>
              <a:rPr>
                <a:latin typeface="Courier"/>
              </a:rPr>
              <a:t>-L</a:t>
            </a:r>
            <a:r>
              <a:rPr/>
              <a:t> רשימת משתמשים</a:t>
            </a:r>
          </a:p>
          <a:p>
            <a:pPr lvl="0" algn="r" rtl="1"/>
            <a:r>
              <a:rPr/>
              <a:t>טופס web: </a:t>
            </a:r>
            <a:r>
              <a:rPr>
                <a:latin typeface="Courier"/>
              </a:rPr>
              <a:t>http-post-form</a:t>
            </a:r>
            <a:r>
              <a:rPr/>
              <a:t> עם </a:t>
            </a:r>
            <a:r>
              <a:rPr>
                <a:latin typeface="Courier"/>
              </a:rPr>
              <a:t>^USER^</a:t>
            </a:r>
            <a:r>
              <a:rPr/>
              <a:t>/</a:t>
            </a:r>
            <a:r>
              <a:rPr>
                <a:latin typeface="Courier"/>
              </a:rPr>
              <a:t>^PASS^</a:t>
            </a:r>
          </a:p>
          <a:p>
            <a:pPr lvl="0" algn="r" rtl="1"/>
            <a:r>
              <a:rPr/>
              <a:t>⚠️ </a:t>
            </a:r>
            <a:r>
              <a:rPr>
                <a:latin typeface="Courier"/>
              </a:rPr>
              <a:t>-t 4</a:t>
            </a:r>
            <a:r>
              <a:rPr/>
              <a:t> להאטה; רועש ונועל חשבונות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John the Ripper — לא-מקוון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john --wordlist=rockyou.txt hash.txt</a:t>
            </a:r>
          </a:p>
          <a:p>
            <a:pPr lvl="0" algn="r" rtl="1"/>
            <a:r>
              <a:rPr>
                <a:latin typeface="Courier"/>
              </a:rPr>
              <a:t>john --show hash.txt</a:t>
            </a:r>
          </a:p>
          <a:p>
            <a:pPr lvl="0" algn="r" rtl="1"/>
            <a:r>
              <a:rPr b="1"/>
              <a:t>Linux:</a:t>
            </a:r>
            <a:r>
              <a:rPr/>
              <a:t> </a:t>
            </a:r>
            <a:r>
              <a:rPr>
                <a:latin typeface="Courier"/>
              </a:rPr>
              <a:t>unshadow /etc/passwd /etc/shadow</a:t>
            </a:r>
          </a:p>
          <a:p>
            <a:pPr lvl="0" algn="r" rtl="1"/>
            <a:r>
              <a:rPr/>
              <a:t>CPU, נוח ואוטומטי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Hashcat — הסודק המהיר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מנצל GPU — מהיר בהרבה</a:t>
            </a:r>
          </a:p>
          <a:p>
            <a:pPr lvl="0" algn="r" rtl="1"/>
            <a:r>
              <a:rPr>
                <a:latin typeface="Courier"/>
              </a:rPr>
              <a:t>hashcat -m 0 -a 0 hash.txt rockyou.txt</a:t>
            </a:r>
          </a:p>
          <a:p>
            <a:pPr lvl="0" algn="r" rtl="1"/>
            <a:r>
              <a:rPr>
                <a:latin typeface="Courier"/>
              </a:rPr>
              <a:t>-m</a:t>
            </a:r>
            <a:r>
              <a:rPr/>
              <a:t>: 0=MD5, 1000=NTLM, 1800=Linux, 3200=bcrypt</a:t>
            </a:r>
          </a:p>
          <a:p>
            <a:pPr lvl="0" algn="r" rtl="1"/>
            <a:r>
              <a:rPr/>
              <a:t>דורש ציון mode מדויק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Spraying ו-Stuffing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Spraying</a:t>
            </a:r>
            <a:r>
              <a:rPr/>
              <a:t> — סיסמה אחת נגד כל המשתמשים → נמנע נעילה</a:t>
            </a:r>
          </a:p>
          <a:p>
            <a:pPr lvl="0" algn="r" rtl="1"/>
            <a:r>
              <a:rPr b="1"/>
              <a:t>Stuffing</a:t>
            </a:r>
            <a:r>
              <a:rPr/>
              <a:t> — פרטים שדלפו (מודול 5) נגד היעד</a:t>
            </a:r>
          </a:p>
          <a:p>
            <a:pPr lvl="0" algn="r" rtl="1"/>
            <a:r>
              <a:rPr>
                <a:latin typeface="Courier"/>
              </a:rPr>
              <a:t>nxc smb &lt;range&gt; -u users.txt -p 'Winter2024!'</a:t>
            </a:r>
          </a:p>
          <a:p>
            <a:pPr lvl="0" algn="r" rtl="1"/>
            <a:r>
              <a:rPr/>
              <a:t>גשר ל-Active Directory (מודול 13)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הגנה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סיסמאות חזקות + מדיניות</a:t>
            </a:r>
          </a:p>
          <a:p>
            <a:pPr lvl="0" algn="r" rtl="1"/>
            <a:r>
              <a:rPr b="1"/>
              <a:t>MFA / 2FA</a:t>
            </a:r>
            <a:r>
              <a:rPr/>
              <a:t> — ההגנה החזקה ביותר</a:t>
            </a:r>
          </a:p>
          <a:p>
            <a:pPr lvl="0" algn="r" rtl="1"/>
            <a:r>
              <a:rPr/>
              <a:t>נעילת חשבון אחרי X ניסיונות</a:t>
            </a:r>
          </a:p>
          <a:p>
            <a:pPr lvl="0" algn="r" rtl="1"/>
            <a:r>
              <a:rPr/>
              <a:t>Hashing חזק (bcrypt/Argon2 + Salt)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מקוון (Hydra) מול לא-מקוון (John/Hashcat)</a:t>
            </a:r>
          </a:p>
          <a:p>
            <a:pPr lvl="0" algn="r" rtl="1"/>
            <a:r>
              <a:rPr/>
              <a:t>זיהוי Hash + Wordlist טוב = סדיקה</a:t>
            </a:r>
          </a:p>
          <a:p>
            <a:pPr lvl="0" algn="r" rtl="1"/>
            <a:r>
              <a:rPr/>
              <a:t>Spraying/Stuffing מנצלים משתמשים+דלף</a:t>
            </a:r>
          </a:p>
          <a:p>
            <a:pPr lvl="0" algn="r" rtl="1"/>
            <a:r>
              <a:rPr/>
              <a:t>המלץ MFA ונעילה לדוח</a:t>
            </a:r>
          </a:p>
          <a:p>
            <a:pPr lvl="0" algn="r" rtl="1"/>
            <a:r>
              <a:rPr b="1"/>
              <a:t>תרגול</a:t>
            </a:r>
            <a:r>
              <a:rPr/>
              <a:t> → </a:t>
            </a:r>
            <a:r>
              <a:rPr>
                <a:latin typeface="Courier"/>
              </a:rPr>
              <a:t>practice.md</a:t>
            </a:r>
            <a:r>
              <a:rPr/>
              <a:t> · </a:t>
            </a:r>
            <a:r>
              <a:rPr b="1"/>
              <a:t>פתרונות</a:t>
            </a:r>
            <a:r>
              <a:rPr/>
              <a:t> → </a:t>
            </a:r>
            <a:r>
              <a:rPr>
                <a:latin typeface="Courier"/>
              </a:rPr>
              <a:t>solutions.md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2026-09-29T10:47:04Z</dcterms:created>
  <dcterms:modified xsi:type="dcterms:W3CDTF">2026-09-29T10:47:04Z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