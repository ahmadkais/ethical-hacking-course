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סקריפטינג: Bash ו-Python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4 — Scripting for Hackers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למה סקריפטינג? אוטומציה</a:t>
            </a:r>
          </a:p>
          <a:p>
            <a:pPr lvl="0" algn="r" rtl="1"/>
            <a:r>
              <a:rPr/>
              <a:t>Bash — שפת ה-Terminal</a:t>
            </a:r>
          </a:p>
          <a:p>
            <a:pPr lvl="0" algn="r" rtl="1"/>
            <a:r>
              <a:rPr/>
              <a:t>Python — שפת הכלים</a:t>
            </a:r>
          </a:p>
          <a:p>
            <a:pPr lvl="0" algn="r" rtl="1"/>
            <a:r>
              <a:rPr/>
              <a:t>פרויקטים: Ping Sweep + Port Scanner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למה סקריפטינג?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האקר לא מקליד פקודה 254 פעם — כותב לולאה</a:t>
            </a:r>
          </a:p>
          <a:p>
            <a:pPr lvl="0" algn="r" rtl="1"/>
            <a:r>
              <a:rPr b="1"/>
              <a:t>Bash</a:t>
            </a:r>
            <a:r>
              <a:rPr/>
              <a:t> — אוטומציה של פקודות מערכת</a:t>
            </a:r>
          </a:p>
          <a:p>
            <a:pPr lvl="0" algn="r" rtl="1"/>
            <a:r>
              <a:rPr b="1"/>
              <a:t>Python</a:t>
            </a:r>
            <a:r>
              <a:rPr/>
              <a:t> — כלים, Exploits, לוגיקה</a:t>
            </a:r>
          </a:p>
          <a:p>
            <a:pPr lvl="0" algn="r" rtl="1"/>
            <a:r>
              <a:rPr/>
              <a:t>לא צריך להיות מתכנת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Bash — מבנה בסיסי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#!/bin/bash</a:t>
            </a:r>
            <a:r>
              <a:rPr/>
              <a:t> — Shebang (חובה)</a:t>
            </a:r>
          </a:p>
          <a:p>
            <a:pPr lvl="0" algn="r" rtl="1"/>
            <a:r>
              <a:rPr>
                <a:latin typeface="Courier"/>
              </a:rPr>
              <a:t>name="Kali"</a:t>
            </a:r>
            <a:r>
              <a:rPr/>
              <a:t> — משתנה (ללא רווחים!)</a:t>
            </a:r>
          </a:p>
          <a:p>
            <a:pPr lvl="0" algn="r" rtl="1"/>
            <a:r>
              <a:rPr>
                <a:latin typeface="Courier"/>
              </a:rPr>
              <a:t>echo "$name"</a:t>
            </a:r>
            <a:r>
              <a:rPr/>
              <a:t> — שימוש</a:t>
            </a:r>
          </a:p>
          <a:p>
            <a:pPr lvl="0" algn="r" rtl="1"/>
            <a:r>
              <a:rPr/>
              <a:t>הרצה: </a:t>
            </a:r>
            <a:r>
              <a:rPr>
                <a:latin typeface="Courier"/>
              </a:rPr>
              <a:t>chmod +x</a:t>
            </a:r>
            <a:r>
              <a:rPr/>
              <a:t> ואז </a:t>
            </a:r>
            <a:r>
              <a:rPr>
                <a:latin typeface="Courier"/>
              </a:rPr>
              <a:t>./script.sh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Bash — קלט, תנאים, לולאות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read -p "IP: " ip</a:t>
            </a:r>
            <a:r>
              <a:rPr/>
              <a:t> — קלט</a:t>
            </a:r>
          </a:p>
          <a:p>
            <a:pPr lvl="0" algn="r" rtl="1"/>
            <a:r>
              <a:rPr>
                <a:latin typeface="Courier"/>
              </a:rPr>
              <a:t>$1 $2</a:t>
            </a:r>
            <a:r>
              <a:rPr/>
              <a:t> — ארגומנטים</a:t>
            </a:r>
          </a:p>
          <a:p>
            <a:pPr lvl="0" algn="r" rtl="1"/>
            <a:r>
              <a:rPr>
                <a:latin typeface="Courier"/>
              </a:rPr>
              <a:t>if [ "$port" -eq 80 ]; then ... fi</a:t>
            </a:r>
          </a:p>
          <a:p>
            <a:pPr lvl="0" algn="r" rtl="1"/>
            <a:r>
              <a:rPr>
                <a:latin typeface="Courier"/>
              </a:rPr>
              <a:t>for i in $(seq 1 254); do ... done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פרויקט Bash — Ping Sweep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מוצא מכונות </a:t>
            </a:r>
            <a:r>
              <a:rPr b="1"/>
              <a:t>חיות</a:t>
            </a:r>
            <a:r>
              <a:rPr/>
              <a:t> בתת-רשת (Host Discovery)</a:t>
            </a:r>
          </a:p>
          <a:p>
            <a:pPr lvl="0" algn="r" rtl="1"/>
            <a:r>
              <a:rPr/>
              <a:t>לולאה על 1–254 + </a:t>
            </a:r>
            <a:r>
              <a:rPr>
                <a:latin typeface="Courier"/>
              </a:rPr>
              <a:t>ping -c 1</a:t>
            </a:r>
          </a:p>
          <a:p>
            <a:pPr lvl="0" algn="r" rtl="1"/>
            <a:r>
              <a:rPr>
                <a:latin typeface="Courier"/>
              </a:rPr>
              <a:t>&amp;</a:t>
            </a:r>
            <a:r>
              <a:rPr/>
              <a:t> להרצה מקבילה · </a:t>
            </a:r>
            <a:r>
              <a:rPr>
                <a:latin typeface="Courier"/>
              </a:rPr>
              <a:t>wait</a:t>
            </a:r>
            <a:r>
              <a:rPr/>
              <a:t> לסיום</a:t>
            </a:r>
          </a:p>
          <a:p>
            <a:pPr lvl="0" algn="r" rtl="1"/>
            <a:r>
              <a:rPr/>
              <a:t>בסיס לשלב הסריקה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Python — טיפוסים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String</a:t>
            </a:r>
            <a:r>
              <a:rPr/>
              <a:t> </a:t>
            </a:r>
            <a:r>
              <a:rPr>
                <a:latin typeface="Courier"/>
              </a:rPr>
              <a:t>"nmap"</a:t>
            </a:r>
            <a:r>
              <a:rPr/>
              <a:t> · </a:t>
            </a:r>
            <a:r>
              <a:rPr b="1"/>
              <a:t>Integer</a:t>
            </a:r>
            <a:r>
              <a:rPr/>
              <a:t> </a:t>
            </a:r>
            <a:r>
              <a:rPr>
                <a:latin typeface="Courier"/>
              </a:rPr>
              <a:t>443</a:t>
            </a:r>
          </a:p>
          <a:p>
            <a:pPr lvl="0" algn="r" rtl="1"/>
            <a:r>
              <a:rPr b="1"/>
              <a:t>Float</a:t>
            </a:r>
            <a:r>
              <a:rPr/>
              <a:t> </a:t>
            </a:r>
            <a:r>
              <a:rPr>
                <a:latin typeface="Courier"/>
              </a:rPr>
              <a:t>2.5</a:t>
            </a:r>
            <a:r>
              <a:rPr/>
              <a:t> · </a:t>
            </a:r>
            <a:r>
              <a:rPr b="1"/>
              <a:t>Boolean</a:t>
            </a:r>
            <a:r>
              <a:rPr/>
              <a:t> </a:t>
            </a:r>
            <a:r>
              <a:rPr>
                <a:latin typeface="Courier"/>
              </a:rPr>
              <a:t>True</a:t>
            </a:r>
          </a:p>
          <a:p>
            <a:pPr lvl="0" algn="r" rtl="1"/>
            <a:r>
              <a:rPr/>
              <a:t>f-strings: </a:t>
            </a:r>
            <a:r>
              <a:rPr>
                <a:latin typeface="Courier"/>
              </a:rPr>
              <a:t>f"Scan {ip}:{port}"</a:t>
            </a:r>
          </a:p>
          <a:p>
            <a:pPr lvl="0" algn="r" rtl="1"/>
            <a:r>
              <a:rPr>
                <a:latin typeface="Courier"/>
              </a:rPr>
              <a:t>banner.split("/")</a:t>
            </a:r>
            <a:r>
              <a:rPr/>
              <a:t> — פרסינג פלט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Python — מבני נתונים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List</a:t>
            </a:r>
            <a:r>
              <a:rPr/>
              <a:t> </a:t>
            </a:r>
            <a:r>
              <a:rPr>
                <a:latin typeface="Courier"/>
              </a:rPr>
              <a:t>[ ]</a:t>
            </a:r>
            <a:r>
              <a:rPr/>
              <a:t> — מסודר, משתנה</a:t>
            </a:r>
          </a:p>
          <a:p>
            <a:pPr lvl="0" algn="r" rtl="1"/>
            <a:r>
              <a:rPr b="1"/>
              <a:t>Dictionary</a:t>
            </a:r>
            <a:r>
              <a:rPr/>
              <a:t> </a:t>
            </a:r>
            <a:r>
              <a:rPr>
                <a:latin typeface="Courier"/>
              </a:rPr>
              <a:t>{80: "HTTP"}</a:t>
            </a:r>
            <a:r>
              <a:rPr/>
              <a:t> — מיפוי</a:t>
            </a:r>
          </a:p>
          <a:p>
            <a:pPr lvl="0" algn="r" rtl="1"/>
            <a:r>
              <a:rPr b="1"/>
              <a:t>Tuple</a:t>
            </a:r>
            <a:r>
              <a:rPr/>
              <a:t> </a:t>
            </a:r>
            <a:r>
              <a:rPr>
                <a:latin typeface="Courier"/>
              </a:rPr>
              <a:t>( )</a:t>
            </a:r>
            <a:r>
              <a:rPr/>
              <a:t> — קבוע</a:t>
            </a:r>
          </a:p>
          <a:p>
            <a:pPr lvl="0" algn="r" rtl="1"/>
            <a:r>
              <a:rPr>
                <a:latin typeface="Courier"/>
              </a:rPr>
              <a:t>services.get(port, "Unknown")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Python — תנאים, לולאות, פונקציות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if / elif / else</a:t>
            </a:r>
          </a:p>
          <a:p>
            <a:pPr lvl="0" algn="r" rtl="1"/>
            <a:r>
              <a:rPr>
                <a:latin typeface="Courier"/>
              </a:rPr>
              <a:t>for port in range(1, 1025)</a:t>
            </a:r>
          </a:p>
          <a:p>
            <a:pPr lvl="0" algn="r" rtl="1"/>
            <a:r>
              <a:rPr>
                <a:latin typeface="Courier"/>
              </a:rPr>
              <a:t>def scan_port(ip, port):</a:t>
            </a:r>
          </a:p>
          <a:p>
            <a:pPr lvl="0" algn="r" rtl="1"/>
            <a:r>
              <a:rPr>
                <a:latin typeface="Courier"/>
              </a:rPr>
              <a:t>import socket, sys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פרויקט Python — Port 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socket(AF_INET, SOCK_STREAM)</a:t>
            </a:r>
            <a:r>
              <a:rPr/>
              <a:t> — TCP</a:t>
            </a:r>
          </a:p>
          <a:p>
            <a:pPr lvl="0" algn="r" rtl="1"/>
            <a:r>
              <a:rPr>
                <a:latin typeface="Courier"/>
              </a:rPr>
              <a:t>settimeout(0.5)</a:t>
            </a:r>
            <a:r>
              <a:rPr/>
              <a:t> — לא להיתקע</a:t>
            </a:r>
          </a:p>
          <a:p>
            <a:pPr lvl="0" algn="r" rtl="1"/>
            <a:r>
              <a:rPr>
                <a:latin typeface="Courier"/>
              </a:rPr>
              <a:t>connect_ex()</a:t>
            </a:r>
            <a:r>
              <a:rPr/>
              <a:t> == 0 → פורט פתוח</a:t>
            </a:r>
          </a:p>
          <a:p>
            <a:pPr lvl="0" algn="r" rtl="1"/>
            <a:r>
              <a:rPr>
                <a:latin typeface="Courier"/>
              </a:rPr>
              <a:t>try/except</a:t>
            </a:r>
            <a:r>
              <a:rPr/>
              <a:t> ל-Ctrl+C ולשגיאות DNS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Bash מול Python — מתי מה?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Bash</a:t>
            </a:r>
            <a:r>
              <a:rPr/>
              <a:t> — one-liners, שרשור כלים, מערכת</a:t>
            </a:r>
          </a:p>
          <a:p>
            <a:pPr lvl="0" algn="r" rtl="1"/>
            <a:r>
              <a:rPr b="1"/>
              <a:t>Python</a:t>
            </a:r>
            <a:r>
              <a:rPr/>
              <a:t> — כלים גדולים, רשת, לוגיקה</a:t>
            </a:r>
          </a:p>
          <a:p>
            <a:pPr lvl="0" algn="r" rtl="1"/>
            <a:r>
              <a:rPr/>
              <a:t>Bash “מדביק” · Python “בונה”</a:t>
            </a:r>
          </a:p>
          <a:p>
            <a:pPr lvl="0" algn="r" rtl="1"/>
            <a:r>
              <a:rPr/>
              <a:t>⚠️ להריץ רק על </a:t>
            </a:r>
            <a:r>
              <a:rPr>
                <a:latin typeface="Courier"/>
              </a:rPr>
              <a:t>127.0.0.1</a:t>
            </a:r>
            <a:r>
              <a:rPr/>
              <a:t>/המעבדה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Bash: Shebang, משתנים, תנאים, לולאות → Ping Sweep</a:t>
            </a:r>
          </a:p>
          <a:p>
            <a:pPr lvl="0" algn="r" rtl="1"/>
            <a:r>
              <a:rPr/>
              <a:t>Python: טיפוסים, מבנים, פונקציות → Port Scanner</a:t>
            </a:r>
          </a:p>
          <a:p>
            <a:pPr lvl="0" algn="r" rtl="1"/>
            <a:r>
              <a:rPr/>
              <a:t>שני כלים אמיתיים ביד</a:t>
            </a:r>
          </a:p>
          <a:p>
            <a:pPr lvl="0" algn="r" rtl="1"/>
            <a:r>
              <a:rPr b="1"/>
              <a:t>תרגילים</a:t>
            </a:r>
            <a:r>
              <a:rPr/>
              <a:t> → </a:t>
            </a:r>
            <a:r>
              <a:rPr>
                <a:latin typeface="Courier"/>
              </a:rPr>
              <a:t>missions.md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2026-09-29T11:20:12Z</dcterms:created>
  <dcterms:modified xsi:type="dcterms:W3CDTF">2026-09-29T11:20:12Z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