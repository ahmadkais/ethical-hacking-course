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7" Type="http://schemas.openxmlformats.org/officeDocument/2006/relationships/viewProps" Target="viewProps.xml" /><Relationship Id="rId1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9" Type="http://schemas.openxmlformats.org/officeDocument/2006/relationships/tableStyles" Target="tableStyles.xml" /><Relationship Id="rId18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r" rtl="1"/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algn="r" rtl="1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algn="r" rtl="1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algn="r" rtl="1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 algn="r" rtl="1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algn="r" rtl="1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 algn="r" rtl="1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rtl="1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marL="0" lvl="0" indent="0" algn="r" rtl="1">
              <a:buNone/>
            </a:pPr>
            <a:r>
              <a:rPr/>
              <a:t>Active Directory (AD)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מודול 13 — האקינג אתי מהיסוד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/>
              <a:t>מבנה AD ו-Kerberos</a:t>
            </a:r>
          </a:p>
          <a:p>
            <a:pPr lvl="0" algn="r" rtl="1"/>
            <a:r>
              <a:rPr/>
              <a:t>Enumeration ו-BloodHound</a:t>
            </a:r>
          </a:p>
          <a:p>
            <a:pPr lvl="0" algn="r" rtl="1"/>
            <a:r>
              <a:rPr/>
              <a:t>LLMNR, Kerberoasting, AS-REP</a:t>
            </a:r>
          </a:p>
          <a:p>
            <a:pPr lvl="0" algn="r" rtl="1"/>
            <a:r>
              <a:rPr/>
              <a:t>Pass-the-Hash → Domain Admin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⚠️ דרישת מעבדה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/>
              <a:t>AD דורש DC + לקוחות = </a:t>
            </a:r>
            <a:r>
              <a:rPr b="1"/>
              <a:t>12GB+ RAM</a:t>
            </a:r>
          </a:p>
          <a:p>
            <a:pPr lvl="0" algn="r" rtl="1"/>
            <a:r>
              <a:rPr/>
              <a:t>אין מספיק? </a:t>
            </a:r>
            <a:r>
              <a:rPr b="1"/>
              <a:t>תרגל בענן</a:t>
            </a:r>
            <a:r>
              <a:rPr/>
              <a:t> ☁️</a:t>
            </a:r>
          </a:p>
          <a:p>
            <a:pPr lvl="0" algn="r" rtl="1"/>
            <a:r>
              <a:rPr/>
              <a:t>TryHackMe: Attacktive Directory, Attacking Kerberos</a:t>
            </a:r>
          </a:p>
          <a:p>
            <a:pPr lvl="0" algn="r" rtl="1"/>
            <a:r>
              <a:rPr/>
              <a:t>זו הדרך המומלצת למודול הזה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למה AD הכי חשוב?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/>
              <a:t>~95% מ-Fortune 500 משתמשות ב-AD</a:t>
            </a:r>
          </a:p>
          <a:p>
            <a:pPr lvl="0" algn="r" rtl="1"/>
            <a:r>
              <a:rPr/>
              <a:t>כל בדיקה פנימית = תקיפת AD</a:t>
            </a:r>
          </a:p>
          <a:p>
            <a:pPr lvl="0" algn="r" rtl="1"/>
            <a:r>
              <a:rPr/>
              <a:t>DC = שליטה בכל הארגון</a:t>
            </a:r>
          </a:p>
          <a:p>
            <a:pPr lvl="0" algn="r" rtl="1"/>
            <a:r>
              <a:rPr/>
              <a:t>היעד: משתמש רגיל → </a:t>
            </a:r>
            <a:r>
              <a:rPr b="1"/>
              <a:t>Domain Admin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מושגי יסוד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 b="1"/>
              <a:t>Domain / DC</a:t>
            </a:r>
            <a:r>
              <a:rPr/>
              <a:t> — גבול לוגי + השרת המנהל</a:t>
            </a:r>
          </a:p>
          <a:p>
            <a:pPr lvl="0" algn="r" rtl="1"/>
            <a:r>
              <a:rPr b="1"/>
              <a:t>Kerberos</a:t>
            </a:r>
            <a:r>
              <a:rPr/>
              <a:t> — אימות מבוסס כרטיסים</a:t>
            </a:r>
          </a:p>
          <a:p>
            <a:pPr lvl="0" algn="r" rtl="1"/>
            <a:r>
              <a:rPr b="1"/>
              <a:t>NTLM</a:t>
            </a:r>
            <a:r>
              <a:rPr/>
              <a:t> — אימות ישן (hashes)</a:t>
            </a:r>
          </a:p>
          <a:p>
            <a:pPr lvl="0" algn="r" rtl="1"/>
            <a:r>
              <a:rPr b="1"/>
              <a:t>SPN</a:t>
            </a:r>
            <a:r>
              <a:rPr/>
              <a:t> — מזהה שירות (מפתח ל-Kerberoast)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זרימת Kerberos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/>
              <a:t>משתמש → מבקש </a:t>
            </a:r>
            <a:r>
              <a:rPr b="1"/>
              <a:t>TGT</a:t>
            </a:r>
            <a:r>
              <a:rPr/>
              <a:t> מה-DC</a:t>
            </a:r>
          </a:p>
          <a:p>
            <a:pPr lvl="0" algn="r" rtl="1"/>
            <a:r>
              <a:rPr/>
              <a:t>עם TGT → מבקש </a:t>
            </a:r>
            <a:r>
              <a:rPr b="1"/>
              <a:t>TGS</a:t>
            </a:r>
            <a:r>
              <a:rPr/>
              <a:t> לשירות</a:t>
            </a:r>
          </a:p>
          <a:p>
            <a:pPr lvl="0" algn="r" rtl="1"/>
            <a:r>
              <a:rPr/>
              <a:t>מציג TGS לשירות → גישה</a:t>
            </a:r>
          </a:p>
          <a:p>
            <a:pPr lvl="0" algn="r" rtl="1"/>
            <a:r>
              <a:rPr/>
              <a:t>התקיפות מנצלות </a:t>
            </a:r>
            <a:r>
              <a:rPr b="1"/>
              <a:t>תכנון</a:t>
            </a:r>
            <a:r>
              <a:rPr/>
              <a:t>, לא באגים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Enumeration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>
                <a:latin typeface="Courier"/>
              </a:rPr>
              <a:t>crackmapexec smb &lt;dc&gt;</a:t>
            </a:r>
            <a:r>
              <a:rPr/>
              <a:t> — דומיין, גרסה</a:t>
            </a:r>
          </a:p>
          <a:p>
            <a:pPr lvl="0" algn="r" rtl="1"/>
            <a:r>
              <a:rPr>
                <a:latin typeface="Courier"/>
              </a:rPr>
              <a:t>enum4linux-ng -A</a:t>
            </a:r>
            <a:r>
              <a:rPr/>
              <a:t> — משתמשים, shares</a:t>
            </a:r>
          </a:p>
          <a:p>
            <a:pPr lvl="0" algn="r" rtl="1"/>
            <a:r>
              <a:rPr/>
              <a:t>גם משתמש מוגבל מתשאל את </a:t>
            </a:r>
            <a:r>
              <a:rPr b="1"/>
              <a:t>כל</a:t>
            </a:r>
            <a:r>
              <a:rPr/>
              <a:t> AD</a:t>
            </a:r>
          </a:p>
          <a:p>
            <a:pPr lvl="0" algn="r" rtl="1"/>
            <a:r>
              <a:rPr/>
              <a:t>משם בונים נתיב תקיפה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LLMNR / NBT-NS Poisoning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/>
              <a:t>נקודת כניסה — לרוב </a:t>
            </a:r>
            <a:r>
              <a:rPr b="1"/>
              <a:t>ללא אישורים</a:t>
            </a:r>
          </a:p>
          <a:p>
            <a:pPr lvl="0" algn="r" rtl="1"/>
            <a:r>
              <a:rPr/>
              <a:t>מחשב “צועק” שם שגוי → Responder עונה</a:t>
            </a:r>
          </a:p>
          <a:p>
            <a:pPr lvl="0" algn="r" rtl="1"/>
            <a:r>
              <a:rPr/>
              <a:t>לוכד </a:t>
            </a:r>
            <a:r>
              <a:rPr b="1"/>
              <a:t>NTLMv2 hash</a:t>
            </a:r>
            <a:r>
              <a:rPr/>
              <a:t> → hashcat -m 5600</a:t>
            </a:r>
          </a:p>
          <a:p>
            <a:pPr lvl="0" algn="r" rtl="1"/>
            <a:r>
              <a:rPr/>
              <a:t>מ”אין כלום” לאישורים ראשונים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Kerberoasting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/>
              <a:t>כל משתמש דומיין מבקש TGS של שירותים</a:t>
            </a:r>
          </a:p>
          <a:p>
            <a:pPr lvl="0" algn="r" rtl="1"/>
            <a:r>
              <a:rPr>
                <a:latin typeface="Courier"/>
              </a:rPr>
              <a:t>GetUserSPNs.py -request</a:t>
            </a:r>
          </a:p>
          <a:p>
            <a:pPr lvl="0" algn="r" rtl="1"/>
            <a:r>
              <a:rPr/>
              <a:t>פיצוח offline: hashcat -m 13100</a:t>
            </a:r>
          </a:p>
          <a:p>
            <a:pPr lvl="0" algn="r" rtl="1"/>
            <a:r>
              <a:rPr/>
              <a:t>חשבונות שירות = סיסמאות ישנות/חלשות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AS-REP Roasting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/>
              <a:t>חשבונות ללא Kerberos preauth</a:t>
            </a:r>
          </a:p>
          <a:p>
            <a:pPr lvl="0" algn="r" rtl="1"/>
            <a:r>
              <a:rPr>
                <a:latin typeface="Courier"/>
              </a:rPr>
              <a:t>GetNPUsers.py -no-pass</a:t>
            </a:r>
          </a:p>
          <a:p>
            <a:pPr lvl="0" algn="r" rtl="1"/>
            <a:r>
              <a:rPr/>
              <a:t>פיצוח: hashcat -m 18200</a:t>
            </a:r>
          </a:p>
          <a:p>
            <a:pPr lvl="0" algn="r" rtl="1"/>
            <a:r>
              <a:rPr b="1"/>
              <a:t>לא צריך אישורים</a:t>
            </a:r>
            <a:r>
              <a:rPr/>
              <a:t> — רק שמות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Pass-the-Hash / Ticket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/>
              <a:t>משתמשים ב-NTLM hash </a:t>
            </a:r>
            <a:r>
              <a:rPr b="1"/>
              <a:t>כמו שהוא</a:t>
            </a:r>
          </a:p>
          <a:p>
            <a:pPr lvl="0" algn="r" rtl="1"/>
            <a:r>
              <a:rPr>
                <a:latin typeface="Courier"/>
              </a:rPr>
              <a:t>crackmapexec smb -u admin -H &lt;hash&gt;</a:t>
            </a:r>
          </a:p>
          <a:p>
            <a:pPr lvl="0" algn="r" rtl="1"/>
            <a:r>
              <a:rPr>
                <a:latin typeface="Courier"/>
              </a:rPr>
              <a:t>evil-winrm</a:t>
            </a:r>
            <a:r>
              <a:rPr/>
              <a:t>, </a:t>
            </a:r>
            <a:r>
              <a:rPr>
                <a:latin typeface="Courier"/>
              </a:rPr>
              <a:t>psexec.py -hashes</a:t>
            </a:r>
          </a:p>
          <a:p>
            <a:pPr lvl="0" algn="r" rtl="1"/>
            <a:r>
              <a:rPr/>
              <a:t>לב התנועה הרוחבית ב-AD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BloodHound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/>
              <a:t>אוסף יחסי AD → מצייר </a:t>
            </a:r>
            <a:r>
              <a:rPr b="1"/>
              <a:t>גרף</a:t>
            </a:r>
          </a:p>
          <a:p>
            <a:pPr lvl="0" algn="r" rtl="1"/>
            <a:r>
              <a:rPr/>
              <a:t>“Shortest Path to Domain Admins”</a:t>
            </a:r>
          </a:p>
          <a:p>
            <a:pPr lvl="0" algn="r" rtl="1"/>
            <a:r>
              <a:rPr/>
              <a:t>הופך ניחוש למדע</a:t>
            </a:r>
          </a:p>
          <a:p>
            <a:pPr lvl="0" algn="r" rtl="1"/>
            <a:r>
              <a:rPr/>
              <a:t>כלי חובה בכל בדיקת AD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Domain Admin ו-DCSync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 b="1"/>
              <a:t>DCSync</a:t>
            </a:r>
            <a:r>
              <a:rPr/>
              <a:t> — שכפול מסד הסיסמאות מה-DC</a:t>
            </a:r>
          </a:p>
          <a:p>
            <a:pPr lvl="0" algn="r" rtl="1"/>
            <a:r>
              <a:rPr/>
              <a:t>שולף hash של krbtgt / Administrator</a:t>
            </a:r>
          </a:p>
          <a:p>
            <a:pPr lvl="0" algn="r" rtl="1"/>
            <a:r>
              <a:rPr b="1"/>
              <a:t>Golden Ticket</a:t>
            </a:r>
            <a:r>
              <a:rPr/>
              <a:t> — TGT מזויף, גישה נצחית</a:t>
            </a:r>
          </a:p>
          <a:p>
            <a:pPr lvl="0" algn="r" rtl="1"/>
            <a:r>
              <a:rPr/>
              <a:t>Domain Admin = “Game Over” 🏆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סיכום מודול 13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/>
              <a:t>AD = היעד של בדיקה פנימית</a:t>
            </a:r>
          </a:p>
          <a:p>
            <a:pPr lvl="0" algn="r" rtl="1"/>
            <a:r>
              <a:rPr/>
              <a:t>LLMNR → Kerberoast → BloodHound → PtH</a:t>
            </a:r>
          </a:p>
          <a:p>
            <a:pPr lvl="0" algn="r" rtl="1"/>
            <a:r>
              <a:rPr/>
              <a:t>DCSync → Domain Admin</a:t>
            </a:r>
          </a:p>
          <a:p>
            <a:pPr lvl="0" algn="r" rtl="1"/>
            <a:r>
              <a:rPr/>
              <a:t>ההגנה = שכבות (כבה LLMNR, gMSA, least-priv)</a:t>
            </a:r>
          </a:p>
          <a:p>
            <a:pPr lvl="0" algn="r" rtl="1"/>
            <a:r>
              <a:rPr b="1"/>
              <a:t>תרגול</a:t>
            </a:r>
            <a:r>
              <a:rPr/>
              <a:t> → </a:t>
            </a:r>
            <a:r>
              <a:rPr>
                <a:latin typeface="Courier"/>
              </a:rPr>
              <a:t>practice.md</a:t>
            </a:r>
            <a:r>
              <a:rPr/>
              <a:t> · </a:t>
            </a:r>
            <a:r>
              <a:rPr b="1"/>
              <a:t>פתרונות</a:t>
            </a:r>
            <a:r>
              <a:rPr/>
              <a:t> → </a:t>
            </a:r>
            <a:r>
              <a:rPr>
                <a:latin typeface="Courier"/>
              </a:rPr>
              <a:t>solutions.md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2026-09-29T11:20:56Z</dcterms:created>
  <dcterms:modified xsi:type="dcterms:W3CDTF">2026-09-29T11:20:56Z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