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פוסט-אקספלויטציה והסלמת הרשאות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11 — האקינג אתי מהיסוד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מה עושים אחרי ה-Shell הראשוני</a:t>
            </a:r>
          </a:p>
          <a:p>
            <a:pPr lvl="0" algn="r" rtl="1"/>
            <a:r>
              <a:rPr/>
              <a:t>Enumeration מקומי</a:t>
            </a:r>
          </a:p>
          <a:p>
            <a:pPr lvl="0" algn="r" rtl="1"/>
            <a:r>
              <a:rPr/>
              <a:t>הסלמה ב-Linux וב-Windows</a:t>
            </a:r>
          </a:p>
          <a:p>
            <a:pPr lvl="0" algn="r" rtl="1"/>
            <a:r>
              <a:rPr/>
              <a:t>Looting ו-Persistence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איפה אנחנו בשרשרת?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השגנו Shell — לרוב משתמש </a:t>
            </a:r>
            <a:r>
              <a:rPr b="1"/>
              <a:t>מוגבל</a:t>
            </a:r>
          </a:p>
          <a:p>
            <a:pPr lvl="0" algn="r" rtl="1"/>
            <a:r>
              <a:rPr/>
              <a:t>הערך: הסלמה ל-</a:t>
            </a:r>
            <a:r>
              <a:rPr b="1"/>
              <a:t>root / SYSTEM</a:t>
            </a:r>
          </a:p>
          <a:p>
            <a:pPr lvl="0" algn="r" rtl="1"/>
            <a:r>
              <a:rPr/>
              <a:t>שאלת הזהב: “מי אני, מה אני יכול, מה מותקן?”</a:t>
            </a:r>
          </a:p>
          <a:p>
            <a:pPr lvl="0" algn="r" rtl="1"/>
            <a:r>
              <a:rPr/>
              <a:t>משם → תנועה רוחבית (מודול 12)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ייצוב ה-Shell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Shell גולמי = אין Tab/חצים/Ctrl+C</a:t>
            </a:r>
          </a:p>
          <a:p>
            <a:pPr lvl="0" algn="r" rtl="1"/>
            <a:r>
              <a:rPr>
                <a:latin typeface="Courier"/>
              </a:rPr>
              <a:t>python3 -c 'import pty; pty.spawn("/bin/bash")'</a:t>
            </a:r>
          </a:p>
          <a:p>
            <a:pPr lvl="0" algn="r" rtl="1"/>
            <a:r>
              <a:rPr>
                <a:latin typeface="Courier"/>
              </a:rPr>
              <a:t>stty raw -echo; fg</a:t>
            </a:r>
            <a:r>
              <a:rPr/>
              <a:t> → shell מלא</a:t>
            </a:r>
          </a:p>
          <a:p>
            <a:pPr lvl="0" algn="r" rtl="1"/>
            <a:r>
              <a:rPr/>
              <a:t>שדרוג ל-</a:t>
            </a:r>
            <a:r>
              <a:rPr b="1"/>
              <a:t>Meterpreter</a:t>
            </a:r>
            <a:r>
              <a:rPr/>
              <a:t> = shell עשיר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Enumeration — העיקרון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מי אני? </a:t>
            </a:r>
            <a:r>
              <a:rPr>
                <a:latin typeface="Courier"/>
              </a:rPr>
              <a:t>id</a:t>
            </a:r>
            <a:r>
              <a:rPr/>
              <a:t> / </a:t>
            </a:r>
            <a:r>
              <a:rPr>
                <a:latin typeface="Courier"/>
              </a:rPr>
              <a:t>whoami /priv</a:t>
            </a:r>
          </a:p>
          <a:p>
            <a:pPr lvl="0" algn="r" rtl="1"/>
            <a:r>
              <a:rPr/>
              <a:t>מערכת? </a:t>
            </a:r>
            <a:r>
              <a:rPr>
                <a:latin typeface="Courier"/>
              </a:rPr>
              <a:t>uname -a</a:t>
            </a:r>
            <a:r>
              <a:rPr/>
              <a:t> / </a:t>
            </a:r>
            <a:r>
              <a:rPr>
                <a:latin typeface="Courier"/>
              </a:rPr>
              <a:t>systeminfo</a:t>
            </a:r>
          </a:p>
          <a:p>
            <a:pPr lvl="0" algn="r" rtl="1"/>
            <a:r>
              <a:rPr/>
              <a:t>מה רץ? </a:t>
            </a:r>
            <a:r>
              <a:rPr>
                <a:latin typeface="Courier"/>
              </a:rPr>
              <a:t>ps aux</a:t>
            </a:r>
            <a:r>
              <a:rPr/>
              <a:t> / </a:t>
            </a:r>
            <a:r>
              <a:rPr>
                <a:latin typeface="Courier"/>
              </a:rPr>
              <a:t>tasklist</a:t>
            </a:r>
          </a:p>
          <a:p>
            <a:pPr lvl="0" algn="r" rtl="1"/>
            <a:r>
              <a:rPr b="1"/>
              <a:t>90% מההסלמה = Enumeration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הסלמה ב-Linux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SUID</a:t>
            </a:r>
            <a:r>
              <a:rPr/>
              <a:t> — </a:t>
            </a:r>
            <a:r>
              <a:rPr>
                <a:latin typeface="Courier"/>
              </a:rPr>
              <a:t>find / -perm -4000</a:t>
            </a:r>
            <a:r>
              <a:rPr/>
              <a:t> → GTFOBins</a:t>
            </a:r>
          </a:p>
          <a:p>
            <a:pPr lvl="0" algn="r" rtl="1"/>
            <a:r>
              <a:rPr b="1"/>
              <a:t>sudo -l</a:t>
            </a:r>
            <a:r>
              <a:rPr/>
              <a:t> — מה מותר כ-root</a:t>
            </a:r>
          </a:p>
          <a:p>
            <a:pPr lvl="0" algn="r" rtl="1"/>
            <a:r>
              <a:rPr/>
              <a:t>דוגמה: </a:t>
            </a:r>
            <a:r>
              <a:rPr>
                <a:latin typeface="Courier"/>
              </a:rPr>
              <a:t>sudo vim -c ':!/bin/sh'</a:t>
            </a:r>
            <a:r>
              <a:rPr/>
              <a:t> → root</a:t>
            </a:r>
          </a:p>
          <a:p>
            <a:pPr lvl="0" algn="r" rtl="1"/>
            <a:r>
              <a:rPr/>
              <a:t>הכלל: “בריחה” מתוכנית מורשית לפקודה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הסלמה ב-Linux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Cron</a:t>
            </a:r>
            <a:r>
              <a:rPr/>
              <a:t> — סקריפט root שכתיב לך</a:t>
            </a:r>
          </a:p>
          <a:p>
            <a:pPr lvl="0" algn="r" rtl="1"/>
            <a:r>
              <a:rPr b="1"/>
              <a:t>Kernel</a:t>
            </a:r>
            <a:r>
              <a:rPr/>
              <a:t> — </a:t>
            </a:r>
            <a:r>
              <a:rPr>
                <a:latin typeface="Courier"/>
              </a:rPr>
              <a:t>uname -a</a:t>
            </a:r>
            <a:r>
              <a:rPr/>
              <a:t> → searchsploit</a:t>
            </a:r>
          </a:p>
          <a:p>
            <a:pPr lvl="0" algn="r" rtl="1"/>
            <a:r>
              <a:rPr/>
              <a:t>Dirty COW, PwnKit — exploits ידועים</a:t>
            </a:r>
          </a:p>
          <a:p>
            <a:pPr lvl="0" algn="r" rtl="1"/>
            <a:r>
              <a:rPr b="1"/>
              <a:t>Capabilities</a:t>
            </a:r>
            <a:r>
              <a:rPr/>
              <a:t> — </a:t>
            </a:r>
            <a:r>
              <a:rPr>
                <a:latin typeface="Courier"/>
              </a:rPr>
              <a:t>getcap -r /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הסלמה ב-Windows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whoami /priv</a:t>
            </a:r>
            <a:r>
              <a:rPr/>
              <a:t> — </a:t>
            </a:r>
            <a:r>
              <a:rPr b="1"/>
              <a:t>SeImpersonate</a:t>
            </a:r>
            <a:r>
              <a:rPr/>
              <a:t> = Potato</a:t>
            </a:r>
          </a:p>
          <a:p>
            <a:pPr lvl="0" algn="r" rtl="1"/>
            <a:r>
              <a:rPr b="1"/>
              <a:t>Unquoted Service Path</a:t>
            </a:r>
          </a:p>
          <a:p>
            <a:pPr lvl="0" algn="r" rtl="1"/>
            <a:r>
              <a:rPr b="1"/>
              <a:t>Weak Service Permissions</a:t>
            </a:r>
          </a:p>
          <a:p>
            <a:pPr lvl="0" algn="r" rtl="1"/>
            <a:r>
              <a:rPr b="1"/>
              <a:t>AlwaysInstallElevated</a:t>
            </a:r>
            <a:r>
              <a:rPr/>
              <a:t> = 1 → MSI כ-SYSTEM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כלי אוטומציה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LinPEAS / WinPEAS</a:t>
            </a:r>
            <a:r>
              <a:rPr/>
              <a:t> — סורק מקיף, צובע</a:t>
            </a:r>
          </a:p>
          <a:p>
            <a:pPr lvl="0" algn="r" rtl="1"/>
            <a:r>
              <a:rPr b="1"/>
              <a:t>PowerUp.ps1</a:t>
            </a:r>
            <a:r>
              <a:rPr/>
              <a:t> — misconfigs ב-Windows</a:t>
            </a:r>
          </a:p>
          <a:p>
            <a:pPr lvl="0" algn="r" rtl="1"/>
            <a:r>
              <a:rPr b="1"/>
              <a:t>linux-exploit-suggester</a:t>
            </a:r>
            <a:r>
              <a:rPr/>
              <a:t> — Kernel</a:t>
            </a:r>
          </a:p>
          <a:p>
            <a:pPr lvl="0" algn="r" rtl="1"/>
            <a:r>
              <a:rPr/>
              <a:t>⚠️ רועשים — תעד ונקה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Looting — איסוף מידע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/etc/shadow</a:t>
            </a:r>
            <a:r>
              <a:rPr/>
              <a:t> → crack (מודול 8)</a:t>
            </a:r>
          </a:p>
          <a:p>
            <a:pPr lvl="0" algn="r" rtl="1"/>
            <a:r>
              <a:rPr/>
              <a:t>קובצי קונפיג → סיסמאות DB</a:t>
            </a:r>
          </a:p>
          <a:p>
            <a:pPr lvl="0" algn="r" rtl="1"/>
            <a:r>
              <a:rPr>
                <a:latin typeface="Courier"/>
              </a:rPr>
              <a:t>id_rsa</a:t>
            </a:r>
            <a:r>
              <a:rPr/>
              <a:t> → מפתחות SSH פרטיים</a:t>
            </a:r>
          </a:p>
          <a:p>
            <a:pPr lvl="0" algn="r" rtl="1"/>
            <a:r>
              <a:rPr/>
              <a:t>mimikatz → סיסמאות בזיכרון (Windows)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Persistence (בהרשאה!)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Linux: </a:t>
            </a:r>
            <a:r>
              <a:rPr>
                <a:latin typeface="Courier"/>
              </a:rPr>
              <a:t>authorized_keys</a:t>
            </a:r>
            <a:r>
              <a:rPr/>
              <a:t>, Cron, systemd</a:t>
            </a:r>
          </a:p>
          <a:p>
            <a:pPr lvl="0" algn="r" rtl="1"/>
            <a:r>
              <a:rPr/>
              <a:t>Windows: Run keys, Scheduled Task, שירות</a:t>
            </a:r>
          </a:p>
          <a:p>
            <a:pPr lvl="0" algn="r" rtl="1"/>
            <a:r>
              <a:rPr/>
              <a:t>מדגים ללקוח את </a:t>
            </a:r>
            <a:r>
              <a:rPr b="1"/>
              <a:t>הסיכון האמיתי</a:t>
            </a:r>
          </a:p>
          <a:p>
            <a:pPr lvl="0" algn="r" rtl="1"/>
            <a:r>
              <a:rPr/>
              <a:t>תמיד מתועד ומוסר בסוף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אתיקה וניקוי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תעד</a:t>
            </a:r>
            <a:r>
              <a:rPr/>
              <a:t> כל שינוי שביצעת</a:t>
            </a:r>
          </a:p>
          <a:p>
            <a:pPr lvl="0" algn="r" rtl="1"/>
            <a:r>
              <a:rPr b="1"/>
              <a:t>החזר</a:t>
            </a:r>
            <a:r>
              <a:rPr/>
              <a:t> למצב מקורי (הסר כלים/משתמשים)</a:t>
            </a:r>
          </a:p>
          <a:p>
            <a:pPr lvl="0" algn="r" rtl="1"/>
            <a:r>
              <a:rPr/>
              <a:t>אל תמחק לוגים ללא תיאום</a:t>
            </a:r>
          </a:p>
          <a:p>
            <a:pPr lvl="0" algn="r" rtl="1"/>
            <a:r>
              <a:rPr/>
              <a:t>ההבדל מפושע = תיעוד והחזרה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Post-Exploitation = אחרי ה-Shell</a:t>
            </a:r>
          </a:p>
          <a:p>
            <a:pPr lvl="0" algn="r" rtl="1"/>
            <a:r>
              <a:rPr/>
              <a:t>מייצבים → מונים → מסלימים → אוספים</a:t>
            </a:r>
          </a:p>
          <a:p>
            <a:pPr lvl="0" algn="r" rtl="1"/>
            <a:r>
              <a:rPr/>
              <a:t>Linux: SUID/sudo/Cron · Windows: priv/services</a:t>
            </a:r>
          </a:p>
          <a:p>
            <a:pPr lvl="0" algn="r" rtl="1"/>
            <a:r>
              <a:rPr/>
              <a:t>Looting מזין תנועה רוחבית ו-AD</a:t>
            </a:r>
          </a:p>
          <a:p>
            <a:pPr lvl="0" algn="r" rtl="1"/>
            <a:r>
              <a:rPr b="1"/>
              <a:t>תרגול</a:t>
            </a:r>
            <a:r>
              <a:rPr/>
              <a:t> → </a:t>
            </a:r>
            <a:r>
              <a:rPr>
                <a:latin typeface="Courier"/>
              </a:rPr>
              <a:t>practice.md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2026-09-29T10:56:22Z</dcterms:created>
  <dcterms:modified xsi:type="dcterms:W3CDTF">2026-09-29T10:56:22Z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