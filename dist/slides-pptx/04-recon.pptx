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r" rtl="1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algn="r" rtl="1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 algn="r" rtl="1">
              <a:buNone/>
            </a:pPr>
            <a:r>
              <a:rPr/>
              <a:t>איסוף מידע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מודול 4 — Reconnaissance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פסיבי מול אקטיבי</a:t>
            </a:r>
          </a:p>
          <a:p>
            <a:pPr lvl="0" algn="r" rtl="1"/>
            <a:r>
              <a:rPr/>
              <a:t>אימות היעד וגבולות ההרשאה (Scope)</a:t>
            </a:r>
          </a:p>
          <a:p>
            <a:pPr lvl="0" algn="r" rtl="1"/>
            <a:r>
              <a:rPr/>
              <a:t>OSINT: מיילים, אנשים, דלף מידע</a:t>
            </a:r>
          </a:p>
          <a:p>
            <a:pPr lvl="0" algn="r" rtl="1"/>
            <a:r>
              <a:rPr/>
              <a:t>תת-דומיינים, טכנולוגיות, Google Dorking, Burp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פסיבי מול אקטיבי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פסיבי (Passive)</a:t>
            </a:r>
            <a:r>
              <a:rPr/>
              <a:t> — ללא מגע ישיר; גוגל, LinkedIn, דלף מידע</a:t>
            </a:r>
          </a:p>
          <a:p>
            <a:pPr lvl="0" algn="r" rtl="1"/>
            <a:r>
              <a:rPr b="1"/>
              <a:t>אקטיבי (Active)</a:t>
            </a:r>
            <a:r>
              <a:rPr/>
              <a:t> — מגע ישיר; סריקה, חיבור לשרת</a:t>
            </a:r>
          </a:p>
          <a:p>
            <a:pPr lvl="0" algn="r" rtl="1"/>
            <a:r>
              <a:rPr/>
              <a:t>תמיד מתחילים בפסיבי — שקט, ללא עקבות</a:t>
            </a:r>
          </a:p>
          <a:p>
            <a:pPr lvl="0" algn="r" rtl="1"/>
            <a:r>
              <a:rPr/>
              <a:t>🔍 שלב אקטיבי מלא = מודול 5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אימות היעד ו-Scope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ודא שאתה תוקף את היעד </a:t>
            </a:r>
            <a:r>
              <a:rPr b="1"/>
              <a:t>הנכון</a:t>
            </a:r>
            <a:r>
              <a:rPr/>
              <a:t> — טעות = עבירה</a:t>
            </a:r>
          </a:p>
          <a:p>
            <a:pPr lvl="0" algn="r" rtl="1"/>
            <a:r>
              <a:rPr b="1"/>
              <a:t>In-Scope</a:t>
            </a:r>
            <a:r>
              <a:rPr/>
              <a:t> — מותר לתקוף</a:t>
            </a:r>
          </a:p>
          <a:p>
            <a:pPr lvl="0" algn="r" rtl="1"/>
            <a:r>
              <a:rPr b="1"/>
              <a:t>Out-of-Scope</a:t>
            </a:r>
            <a:r>
              <a:rPr/>
              <a:t> — אסור במפורש</a:t>
            </a:r>
          </a:p>
          <a:p>
            <a:pPr lvl="0" algn="r" rtl="1"/>
            <a:r>
              <a:rPr b="1"/>
              <a:t>RoE</a:t>
            </a:r>
            <a:r>
              <a:rPr/>
              <a:t> — כללי ההתקשרות</a:t>
            </a:r>
          </a:p>
          <a:p>
            <a:pPr lvl="0" algn="r" rtl="1"/>
            <a:r>
              <a:rPr/>
              <a:t>⚠️ קרא את ה-Scope בכל פעם מחדש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OSINT: מיילים ואנשים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מטרה: לגלות את </a:t>
            </a:r>
            <a:r>
              <a:rPr b="1"/>
              <a:t>תבנית המייל</a:t>
            </a:r>
            <a:r>
              <a:rPr/>
              <a:t> של הארגון</a:t>
            </a:r>
          </a:p>
          <a:p>
            <a:pPr lvl="0" algn="r" rtl="1"/>
            <a:r>
              <a:rPr b="1"/>
              <a:t>hunter.io</a:t>
            </a:r>
            <a:r>
              <a:rPr/>
              <a:t> — מיילים לפי דומיין</a:t>
            </a:r>
          </a:p>
          <a:p>
            <a:pPr lvl="0" algn="r" rtl="1"/>
            <a:r>
              <a:rPr b="1"/>
              <a:t>clearbit</a:t>
            </a:r>
            <a:r>
              <a:rPr/>
              <a:t> — תוסף Gmail, שמות ותפקידים</a:t>
            </a:r>
          </a:p>
          <a:p>
            <a:pPr lvl="0" algn="r" rtl="1"/>
            <a:r>
              <a:rPr b="1"/>
              <a:t>phonebook.cz</a:t>
            </a:r>
            <a:r>
              <a:rPr/>
              <a:t>, </a:t>
            </a:r>
            <a:r>
              <a:rPr b="1"/>
              <a:t>voilanorbert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אימות מייל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emailhippo / email-checker</a:t>
            </a:r>
            <a:r>
              <a:rPr/>
              <a:t> — האם המייל תקין</a:t>
            </a:r>
          </a:p>
          <a:p>
            <a:pPr lvl="0" algn="r" rtl="1"/>
            <a:r>
              <a:rPr b="1"/>
              <a:t>HaveIBeenPwned</a:t>
            </a:r>
            <a:r>
              <a:rPr/>
              <a:t> — האם הופיע בדלף מידע</a:t>
            </a:r>
          </a:p>
          <a:p>
            <a:pPr lvl="0" algn="r" rtl="1"/>
            <a:r>
              <a:rPr b="1"/>
              <a:t>“שכחתי סיסמה”</a:t>
            </a:r>
            <a:r>
              <a:rPr/>
              <a:t> — מאשר קיום חשבון</a:t>
            </a:r>
          </a:p>
          <a:p>
            <a:pPr lvl="0" algn="r" rtl="1"/>
            <a:r>
              <a:rPr/>
              <a:t>💡 משלבים מספר מקורות, לא כלי אחד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דלף מידע (Data Breaches)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מקור יעיל לפרטי גישה (Credentials)</a:t>
            </a:r>
          </a:p>
          <a:p>
            <a:pPr lvl="0" algn="r" rtl="1"/>
            <a:r>
              <a:rPr/>
              <a:t>פריצות: LinkedIn, Equifax, Home Depot</a:t>
            </a:r>
          </a:p>
          <a:p>
            <a:pPr lvl="0" algn="r" rtl="1"/>
            <a:r>
              <a:rPr/>
              <a:t>כניסה ישירה עם פרטים שדלפו / Password Spraying</a:t>
            </a:r>
          </a:p>
          <a:p>
            <a:pPr lvl="0" algn="r" rtl="1"/>
            <a:r>
              <a:rPr/>
              <a:t>⚠️ רק בתוך ה-Scope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תת-דומיינים (Subdomains)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הרחבה של הדומיין: </a:t>
            </a:r>
            <a:r>
              <a:rPr>
                <a:latin typeface="Courier"/>
              </a:rPr>
              <a:t>dev.tesla.com</a:t>
            </a:r>
          </a:p>
          <a:p>
            <a:pPr lvl="0" algn="r" rtl="1"/>
            <a:r>
              <a:rPr/>
              <a:t>חושפים מערכות נסתרות (dev/test)</a:t>
            </a:r>
          </a:p>
          <a:p>
            <a:pPr lvl="0" algn="r" rtl="1"/>
            <a:r>
              <a:rPr/>
              <a:t>מרחיבים את משטח התקיפה</a:t>
            </a:r>
          </a:p>
          <a:p>
            <a:pPr lvl="0" algn="r" rtl="1"/>
            <a:r>
              <a:rPr/>
              <a:t>כלים: </a:t>
            </a:r>
            <a:r>
              <a:rPr b="1"/>
              <a:t>Sublist3r</a:t>
            </a:r>
            <a:r>
              <a:rPr/>
              <a:t>, Amass, crt.sh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זיהוי טכנולוגיות האתר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builtwith.com</a:t>
            </a:r>
            <a:r>
              <a:rPr/>
              <a:t> — פירוט מלא של ה-Tech Stack</a:t>
            </a:r>
          </a:p>
          <a:p>
            <a:pPr lvl="0" algn="r" rtl="1"/>
            <a:r>
              <a:rPr b="1"/>
              <a:t>Wappalyzer</a:t>
            </a:r>
            <a:r>
              <a:rPr/>
              <a:t> — תוסף מהיר</a:t>
            </a:r>
          </a:p>
          <a:p>
            <a:pPr lvl="0" algn="r" rtl="1"/>
            <a:r>
              <a:rPr b="1"/>
              <a:t>whatweb</a:t>
            </a:r>
            <a:r>
              <a:rPr/>
              <a:t> — משורת הפקודה</a:t>
            </a:r>
          </a:p>
          <a:p>
            <a:pPr lvl="0" algn="r" rtl="1"/>
            <a:r>
              <a:rPr/>
              <a:t>מחפשים: שרת+גרסה, Framework, CMS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Google Dorking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site:</a:t>
            </a:r>
            <a:r>
              <a:rPr/>
              <a:t> — הגבלה לדומיין</a:t>
            </a:r>
          </a:p>
          <a:p>
            <a:pPr lvl="0" algn="r" rtl="1"/>
            <a:r>
              <a:rPr>
                <a:latin typeface="Courier"/>
              </a:rPr>
              <a:t>filetype:</a:t>
            </a:r>
            <a:r>
              <a:rPr/>
              <a:t> — סוג קובץ</a:t>
            </a:r>
          </a:p>
          <a:p>
            <a:pPr lvl="0" algn="r" rtl="1"/>
            <a:r>
              <a:rPr>
                <a:latin typeface="Courier"/>
              </a:rPr>
              <a:t>intitle:</a:t>
            </a:r>
            <a:r>
              <a:rPr/>
              <a:t> / </a:t>
            </a:r>
            <a:r>
              <a:rPr>
                <a:latin typeface="Courier"/>
              </a:rPr>
              <a:t>inurl:</a:t>
            </a:r>
            <a:r>
              <a:rPr/>
              <a:t> — כותרת / כתובת</a:t>
            </a:r>
          </a:p>
          <a:p>
            <a:pPr lvl="0" algn="r" rtl="1"/>
            <a:r>
              <a:rPr>
                <a:latin typeface="Courier"/>
              </a:rPr>
              <a:t>intext:</a:t>
            </a:r>
            <a:r>
              <a:rPr/>
              <a:t> — טקסט בדף · </a:t>
            </a:r>
            <a:r>
              <a:rPr>
                <a:latin typeface="Courier"/>
              </a:rPr>
              <a:t>-</a:t>
            </a:r>
            <a:r>
              <a:rPr/>
              <a:t> החרגה</a:t>
            </a:r>
          </a:p>
          <a:p>
            <a:pPr lvl="0" algn="r" rtl="1"/>
            <a:r>
              <a:rPr/>
              <a:t>💡 GHDB — מאגר Dorks מוכנים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Burp Suite — היכרות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Proxy</a:t>
            </a:r>
            <a:r>
              <a:rPr/>
              <a:t> בין הדפדפן לשרת</a:t>
            </a:r>
          </a:p>
          <a:p>
            <a:pPr lvl="0" algn="r" rtl="1"/>
            <a:r>
              <a:rPr/>
              <a:t>לראות ולערוך כל Request / Response</a:t>
            </a:r>
          </a:p>
          <a:p>
            <a:pPr lvl="0" algn="r" rtl="1"/>
            <a:r>
              <a:rPr/>
              <a:t>הגדרה: Firefox ← Proxy </a:t>
            </a:r>
            <a:r>
              <a:rPr>
                <a:latin typeface="Courier"/>
              </a:rPr>
              <a:t>127.0.0.1:8080</a:t>
            </a:r>
          </a:p>
          <a:p>
            <a:pPr lvl="0" algn="r" rtl="1"/>
            <a:r>
              <a:rPr/>
              <a:t>התקנת תעודת CA ל-HTTPS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סיכום מודול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פסיבי לפני אקטיבי; אמת יעד וקרא Scope</a:t>
            </a:r>
          </a:p>
          <a:p>
            <a:pPr lvl="0" algn="r" rtl="1"/>
            <a:r>
              <a:rPr/>
              <a:t>OSINT על מיילים + דלף מידע = פרטי גישה</a:t>
            </a:r>
          </a:p>
          <a:p>
            <a:pPr lvl="0" algn="r" rtl="1"/>
            <a:r>
              <a:rPr/>
              <a:t>Sublist3r מרחיב משטח תקיפה</a:t>
            </a:r>
          </a:p>
          <a:p>
            <a:pPr lvl="0" algn="r" rtl="1"/>
            <a:r>
              <a:rPr/>
              <a:t>builtwith ממקד חולשות; Burp = Proxy מרכזי</a:t>
            </a:r>
          </a:p>
          <a:p>
            <a:pPr lvl="0" algn="r" rtl="1"/>
            <a:r>
              <a:rPr b="1"/>
              <a:t>תרגול:</a:t>
            </a:r>
            <a:r>
              <a:rPr/>
              <a:t> Sublist3r + builtwith + 3 Dorks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2026-08-30T15:33:03Z</dcterms:created>
  <dcterms:modified xsi:type="dcterms:W3CDTF">2026-08-30T15:33:03Z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