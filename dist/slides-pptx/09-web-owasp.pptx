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אבטחת אפליקציות Web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9 — OWASP Top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כיצד עובדות חולשות Web</a:t>
            </a:r>
          </a:p>
          <a:p>
            <a:pPr lvl="0" algn="r" rtl="1"/>
            <a:r>
              <a:rPr/>
              <a:t>OWASP Top 10</a:t>
            </a:r>
          </a:p>
          <a:p>
            <a:pPr lvl="0" algn="r" rtl="1"/>
            <a:r>
              <a:rPr/>
              <a:t>SQLi · XSS · Command Injection</a:t>
            </a:r>
          </a:p>
          <a:p>
            <a:pPr lvl="0" algn="r" rtl="1"/>
            <a:r>
              <a:rPr/>
              <a:t>Access Control · File Upload · הגנה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איך עובדת אפליקציית Web?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דפדפן → בקשת HTTP → שרת → DB → תשובה</a:t>
            </a:r>
          </a:p>
          <a:p>
            <a:pPr lvl="0" algn="r" rtl="1"/>
            <a:r>
              <a:rPr b="1"/>
              <a:t>השורש:</a:t>
            </a:r>
            <a:r>
              <a:rPr/>
              <a:t> אמון בקלט משתמש</a:t>
            </a:r>
          </a:p>
          <a:p>
            <a:pPr lvl="0" algn="r" rtl="1"/>
            <a:r>
              <a:rPr/>
              <a:t>קלט לא מסונן = הזרקת קוד/פקודות</a:t>
            </a:r>
          </a:p>
          <a:p>
            <a:pPr lvl="0" algn="r" rtl="1"/>
            <a:r>
              <a:rPr/>
              <a:t>הכלי המרכזי: </a:t>
            </a:r>
            <a:r>
              <a:rPr b="1"/>
              <a:t>Burp Suite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OWASP Top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A01 Broken Access Control</a:t>
            </a:r>
            <a:r>
              <a:rPr/>
              <a:t> (הנפוץ)</a:t>
            </a:r>
          </a:p>
          <a:p>
            <a:pPr lvl="0" algn="r" rtl="1"/>
            <a:r>
              <a:rPr b="1"/>
              <a:t>A03 Injection</a:t>
            </a:r>
            <a:r>
              <a:rPr/>
              <a:t> — SQLi, Command, XSS</a:t>
            </a:r>
          </a:p>
          <a:p>
            <a:pPr lvl="0" algn="r" rtl="1"/>
            <a:r>
              <a:rPr/>
              <a:t>A05 Misconfiguration · A07 Auth</a:t>
            </a:r>
          </a:p>
          <a:p>
            <a:pPr lvl="0" algn="r" rtl="1"/>
            <a:r>
              <a:rPr/>
              <a:t>A06 Vulnerable Components · </a:t>
            </a:r>
            <a:r>
              <a:rPr b="1"/>
              <a:t>A10 SSRF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סביבת התרגול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DVWA</a:t>
            </a:r>
            <a:r>
              <a:rPr/>
              <a:t> — PHP פגיע, רמות קושי</a:t>
            </a:r>
          </a:p>
          <a:p>
            <a:pPr lvl="0" algn="r" rtl="1"/>
            <a:r>
              <a:rPr b="1"/>
              <a:t>OWASP Juice Shop</a:t>
            </a:r>
            <a:r>
              <a:rPr/>
              <a:t> — 100+ אתגרים</a:t>
            </a:r>
          </a:p>
          <a:p>
            <a:pPr lvl="0" algn="r" rtl="1"/>
            <a:r>
              <a:rPr>
                <a:latin typeface="Courier"/>
              </a:rPr>
              <a:t>docker run -d -p 3000:3000 bkimminich/juice-shop</a:t>
            </a:r>
          </a:p>
          <a:p>
            <a:pPr lvl="0" algn="r" rtl="1"/>
            <a:r>
              <a:rPr/>
              <a:t>PortSwigger Web Security Academy (חינמי)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קלט נכנס לשאילתת SQL</a:t>
            </a:r>
          </a:p>
          <a:p>
            <a:pPr lvl="0" algn="r" rtl="1"/>
            <a:r>
              <a:rPr>
                <a:latin typeface="Courier"/>
              </a:rPr>
              <a:t>' OR '1'='1' --</a:t>
            </a:r>
            <a:r>
              <a:rPr/>
              <a:t> → עוקף התחברות</a:t>
            </a:r>
          </a:p>
          <a:p>
            <a:pPr lvl="0" algn="r" rtl="1"/>
            <a:r>
              <a:rPr/>
              <a:t>Union-based (פלט ישיר) מול Blind</a:t>
            </a:r>
          </a:p>
          <a:p>
            <a:pPr lvl="0" algn="r" rtl="1"/>
            <a:r>
              <a:rPr b="1"/>
              <a:t>sqlmap</a:t>
            </a:r>
            <a:r>
              <a:rPr/>
              <a:t> — </a:t>
            </a:r>
            <a:r>
              <a:rPr>
                <a:latin typeface="Courier"/>
              </a:rPr>
              <a:t>-u URL --dbs / --dump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Cross-Site Scripting (XSS)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הזרקת JavaScript לדפדפן קורבן</a:t>
            </a:r>
          </a:p>
          <a:p>
            <a:pPr lvl="0" algn="r" rtl="1"/>
            <a:r>
              <a:rPr b="1"/>
              <a:t>Reflected · Stored · DOM</a:t>
            </a:r>
          </a:p>
          <a:p>
            <a:pPr lvl="0" algn="r" rtl="1"/>
            <a:r>
              <a:rPr>
                <a:latin typeface="Courier"/>
              </a:rPr>
              <a:t>&lt;script&gt;alert(1)&lt;/script&gt;</a:t>
            </a:r>
            <a:r>
              <a:rPr/>
              <a:t>, </a:t>
            </a:r>
            <a:r>
              <a:rPr>
                <a:latin typeface="Courier"/>
              </a:rPr>
              <a:t>&lt;img src=x onerror=alert(1)&gt;</a:t>
            </a:r>
          </a:p>
          <a:p>
            <a:pPr lvl="0" algn="r" rtl="1"/>
            <a:r>
              <a:rPr/>
              <a:t>גניבת Cookie → חטיפת Session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Command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קלט נכנס לפקודת מערכת</a:t>
            </a:r>
          </a:p>
          <a:p>
            <a:pPr lvl="0" algn="r" rtl="1"/>
            <a:r>
              <a:rPr>
                <a:latin typeface="Courier"/>
              </a:rPr>
              <a:t>127.0.0.1; whoami</a:t>
            </a:r>
          </a:p>
          <a:p>
            <a:pPr lvl="0" algn="r" rtl="1"/>
            <a:r>
              <a:rPr/>
              <a:t>מפרידים: </a:t>
            </a:r>
            <a:r>
              <a:rPr>
                <a:latin typeface="Courier"/>
              </a:rPr>
              <a:t>;</a:t>
            </a:r>
            <a:r>
              <a:rPr/>
              <a:t> </a:t>
            </a:r>
            <a:r>
              <a:rPr>
                <a:latin typeface="Courier"/>
              </a:rPr>
              <a:t>|</a:t>
            </a:r>
            <a:r>
              <a:rPr/>
              <a:t> </a:t>
            </a:r>
            <a:r>
              <a:rPr>
                <a:latin typeface="Courier"/>
              </a:rPr>
              <a:t>&amp;&amp;</a:t>
            </a:r>
            <a:r>
              <a:rPr/>
              <a:t> </a:t>
            </a:r>
            <a:r>
              <a:rPr>
                <a:latin typeface="Courier"/>
              </a:rPr>
              <a:t>`</a:t>
            </a:r>
          </a:p>
          <a:p>
            <a:pPr lvl="0" algn="r" rtl="1"/>
            <a:r>
              <a:rPr/>
              <a:t>= </a:t>
            </a:r>
            <a:r>
              <a:rPr b="1"/>
              <a:t>RCE</a:t>
            </a:r>
            <a:r>
              <a:rPr/>
              <a:t> — מהחמורות ביותר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Broken Access Control / IDOR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A01 — הנפוץ ביותר</a:t>
            </a:r>
          </a:p>
          <a:p>
            <a:pPr lvl="0" algn="r" rtl="1"/>
            <a:r>
              <a:rPr b="1"/>
              <a:t>IDOR:</a:t>
            </a:r>
            <a:r>
              <a:rPr/>
              <a:t> </a:t>
            </a:r>
            <a:r>
              <a:rPr>
                <a:latin typeface="Courier"/>
              </a:rPr>
              <a:t>account?id=1001</a:t>
            </a:r>
            <a:r>
              <a:rPr/>
              <a:t> → </a:t>
            </a:r>
            <a:r>
              <a:rPr>
                <a:latin typeface="Courier"/>
              </a:rPr>
              <a:t>?id=1002</a:t>
            </a:r>
          </a:p>
          <a:p>
            <a:pPr lvl="0" algn="r" rtl="1"/>
            <a:r>
              <a:rPr/>
              <a:t>Forced Browsing ל-</a:t>
            </a:r>
            <a:r>
              <a:rPr>
                <a:latin typeface="Courier"/>
              </a:rPr>
              <a:t>/admin</a:t>
            </a:r>
          </a:p>
          <a:p>
            <a:pPr lvl="0" algn="r" rtl="1"/>
            <a:r>
              <a:rPr/>
              <a:t>שינוי </a:t>
            </a:r>
            <a:r>
              <a:rPr>
                <a:latin typeface="Courier"/>
              </a:rPr>
              <a:t>role=user</a:t>
            </a:r>
            <a:r>
              <a:rPr/>
              <a:t> → </a:t>
            </a:r>
            <a:r>
              <a:rPr>
                <a:latin typeface="Courier"/>
              </a:rPr>
              <a:t>role=admin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File Upload ו-Inclusion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Upload:</a:t>
            </a:r>
            <a:r>
              <a:rPr/>
              <a:t> Web Shell </a:t>
            </a:r>
            <a:r>
              <a:rPr>
                <a:latin typeface="Courier"/>
              </a:rPr>
              <a:t>&lt;?php system($_GET['cmd']);?&gt;</a:t>
            </a:r>
            <a:r>
              <a:rPr/>
              <a:t> → RCE</a:t>
            </a:r>
          </a:p>
          <a:p>
            <a:pPr lvl="0" algn="r" rtl="1"/>
            <a:r>
              <a:rPr/>
              <a:t>עקיפה: </a:t>
            </a:r>
            <a:r>
              <a:rPr>
                <a:latin typeface="Courier"/>
              </a:rPr>
              <a:t>shell.php.jpg</a:t>
            </a:r>
            <a:r>
              <a:rPr/>
              <a:t>, Content-Type</a:t>
            </a:r>
          </a:p>
          <a:p>
            <a:pPr lvl="0" algn="r" rtl="1"/>
            <a:r>
              <a:rPr b="1"/>
              <a:t>LFI:</a:t>
            </a:r>
            <a:r>
              <a:rPr/>
              <a:t> </a:t>
            </a:r>
            <a:r>
              <a:rPr>
                <a:latin typeface="Courier"/>
              </a:rPr>
              <a:t>?file=../../etc/passwd</a:t>
            </a:r>
          </a:p>
          <a:p>
            <a:pPr lvl="0" algn="r" rtl="1"/>
            <a:r>
              <a:rPr b="1"/>
              <a:t>RFI:</a:t>
            </a:r>
            <a:r>
              <a:rPr/>
              <a:t> קובץ מרוחק → RCE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כלים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Burp Suite</a:t>
            </a:r>
            <a:r>
              <a:rPr/>
              <a:t> — Proxy, Repeater, Intruder</a:t>
            </a:r>
          </a:p>
          <a:p>
            <a:pPr lvl="0" algn="r" rtl="1"/>
            <a:r>
              <a:rPr b="1"/>
              <a:t>sqlmap</a:t>
            </a:r>
            <a:r>
              <a:rPr/>
              <a:t> — אוטומציית SQLi</a:t>
            </a:r>
          </a:p>
          <a:p>
            <a:pPr lvl="0" algn="r" rtl="1"/>
            <a:r>
              <a:rPr b="1"/>
              <a:t>ffuf / gobuster</a:t>
            </a:r>
            <a:r>
              <a:rPr/>
              <a:t> — נתיבים</a:t>
            </a:r>
          </a:p>
          <a:p>
            <a:pPr lvl="0" algn="r" rtl="1"/>
            <a:r>
              <a:rPr b="1"/>
              <a:t>nikto</a:t>
            </a:r>
            <a:r>
              <a:rPr/>
              <a:t> — חולשות נפוצות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הגנה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Prepared Statements</a:t>
            </a:r>
            <a:r>
              <a:rPr/>
              <a:t> → מונע SQLi</a:t>
            </a:r>
          </a:p>
          <a:p>
            <a:pPr lvl="0" algn="r" rtl="1"/>
            <a:r>
              <a:rPr b="1"/>
              <a:t>Output Encoding</a:t>
            </a:r>
            <a:r>
              <a:rPr/>
              <a:t> → מונע XSS</a:t>
            </a:r>
          </a:p>
          <a:p>
            <a:pPr lvl="0" algn="r" rtl="1"/>
            <a:r>
              <a:rPr b="1"/>
              <a:t>בקרת גישה בשרת</a:t>
            </a:r>
            <a:r>
              <a:rPr/>
              <a:t> (לא רק ב-UI)</a:t>
            </a:r>
          </a:p>
          <a:p>
            <a:pPr lvl="0" algn="r" rtl="1"/>
            <a:r>
              <a:rPr/>
              <a:t>CSP · HTTPS · CSRF Tokens · MFA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חולשות Web = אמון בקלט</a:t>
            </a:r>
          </a:p>
          <a:p>
            <a:pPr lvl="0" algn="r" rtl="1"/>
            <a:r>
              <a:rPr/>
              <a:t>Injection (SQLi/XSS/Command), IDOR, Upload</a:t>
            </a:r>
          </a:p>
          <a:p>
            <a:pPr lvl="0" algn="r" rtl="1"/>
            <a:r>
              <a:rPr/>
              <a:t>Burp + sqlmap = הכלים</a:t>
            </a:r>
          </a:p>
          <a:p>
            <a:pPr lvl="0" algn="r" rtl="1"/>
            <a:r>
              <a:rPr/>
              <a:t>המיומנות הכי מבוקשת בשוק</a:t>
            </a:r>
          </a:p>
          <a:p>
            <a:pPr lvl="0" algn="r" rtl="1"/>
            <a:r>
              <a:rPr b="1"/>
              <a:t>תרגול</a:t>
            </a:r>
            <a:r>
              <a:rPr/>
              <a:t> → </a:t>
            </a:r>
            <a:r>
              <a:rPr>
                <a:latin typeface="Courier"/>
              </a:rPr>
              <a:t>practice.md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2026-08-31T08:33:21Z</dcterms:created>
  <dcterms:modified xsi:type="dcterms:W3CDTF">2026-08-31T08:33:21Z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