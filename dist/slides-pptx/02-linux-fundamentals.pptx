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יסודות Linux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2 — Linux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השֶׁל, ה-Terminal ומערכת הקבצים</a:t>
            </a:r>
          </a:p>
          <a:p>
            <a:pPr lvl="0" algn="r" rtl="1"/>
            <a:r>
              <a:rPr/>
              <a:t>ניווט, קבצים ועריכה</a:t>
            </a:r>
          </a:p>
          <a:p>
            <a:pPr lvl="0" algn="r" rtl="1"/>
            <a:r>
              <a:rPr/>
              <a:t>הרשאות, משתמשים ו-sudo</a:t>
            </a:r>
          </a:p>
          <a:p>
            <a:pPr lvl="0" algn="r" rtl="1"/>
            <a:r>
              <a:rPr/>
              <a:t>חבילות, שירותים, רשת וצינורות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השֶׁל ושורת הפקודה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Bash</a:t>
            </a:r>
            <a:r>
              <a:rPr/>
              <a:t> מפרש את הפקודות; </a:t>
            </a:r>
            <a:r>
              <a:rPr>
                <a:latin typeface="Courier"/>
              </a:rPr>
              <a:t>#</a:t>
            </a:r>
            <a:r>
              <a:rPr/>
              <a:t>=root, </a:t>
            </a:r>
            <a:r>
              <a:rPr>
                <a:latin typeface="Courier"/>
              </a:rPr>
              <a:t>$</a:t>
            </a:r>
            <a:r>
              <a:rPr/>
              <a:t>=משתמש</a:t>
            </a:r>
          </a:p>
          <a:p>
            <a:pPr lvl="0" algn="r" rtl="1"/>
            <a:r>
              <a:rPr b="1"/>
              <a:t>Tab</a:t>
            </a:r>
            <a:r>
              <a:rPr/>
              <a:t> — השלמה אוטומטית</a:t>
            </a:r>
          </a:p>
          <a:p>
            <a:pPr lvl="0" algn="r" rtl="1"/>
            <a:r>
              <a:rPr b="1"/>
              <a:t>↑/↓</a:t>
            </a:r>
            <a:r>
              <a:rPr/>
              <a:t> — פקודות קודמות · </a:t>
            </a:r>
            <a:r>
              <a:rPr>
                <a:latin typeface="Courier"/>
              </a:rPr>
              <a:t>history</a:t>
            </a:r>
          </a:p>
          <a:p>
            <a:pPr lvl="0" algn="r" rtl="1"/>
            <a:r>
              <a:rPr b="1">
                <a:latin typeface="Courier"/>
              </a:rPr>
              <a:t>man &lt;cmd&gt;</a:t>
            </a:r>
            <a:r>
              <a:rPr/>
              <a:t> — המדריך המלא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מערכת הקבצים — עץ אחד מ-</a:t>
            </a:r>
            <a:r>
              <a:rPr>
                <a:latin typeface="Courier"/>
              </a:rPr>
              <a:t>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/etc</a:t>
            </a:r>
            <a:r>
              <a:rPr/>
              <a:t> — הגדרות (</a:t>
            </a:r>
            <a:r>
              <a:rPr>
                <a:latin typeface="Courier"/>
              </a:rPr>
              <a:t>/etc/passwd</a:t>
            </a:r>
            <a:r>
              <a:rPr/>
              <a:t>, </a:t>
            </a:r>
            <a:r>
              <a:rPr>
                <a:latin typeface="Courier"/>
              </a:rPr>
              <a:t>/etc/shadow</a:t>
            </a:r>
            <a:r>
              <a:rPr/>
              <a:t>)</a:t>
            </a:r>
          </a:p>
          <a:p>
            <a:pPr lvl="0" algn="r" rtl="1"/>
            <a:r>
              <a:rPr>
                <a:latin typeface="Courier"/>
              </a:rPr>
              <a:t>/home</a:t>
            </a:r>
            <a:r>
              <a:rPr/>
              <a:t> · </a:t>
            </a:r>
            <a:r>
              <a:rPr>
                <a:latin typeface="Courier"/>
              </a:rPr>
              <a:t>/root</a:t>
            </a:r>
            <a:r>
              <a:rPr/>
              <a:t> — תיקיות בית</a:t>
            </a:r>
          </a:p>
          <a:p>
            <a:pPr lvl="0" algn="r" rtl="1"/>
            <a:r>
              <a:rPr>
                <a:latin typeface="Courier"/>
              </a:rPr>
              <a:t>/var</a:t>
            </a:r>
            <a:r>
              <a:rPr/>
              <a:t> — לוגים ואתרים (</a:t>
            </a:r>
            <a:r>
              <a:rPr>
                <a:latin typeface="Courier"/>
              </a:rPr>
              <a:t>/var/www</a:t>
            </a:r>
            <a:r>
              <a:rPr/>
              <a:t>)</a:t>
            </a:r>
          </a:p>
          <a:p>
            <a:pPr lvl="0" algn="r" rtl="1"/>
            <a:r>
              <a:rPr>
                <a:latin typeface="Courier"/>
              </a:rPr>
              <a:t>/tmp</a:t>
            </a:r>
            <a:r>
              <a:rPr/>
              <a:t> — זמני · </a:t>
            </a:r>
            <a:r>
              <a:rPr>
                <a:latin typeface="Courier"/>
              </a:rPr>
              <a:t>/usr/share/wordlists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ניווט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pwd</a:t>
            </a:r>
            <a:r>
              <a:rPr/>
              <a:t> — איפה אני</a:t>
            </a:r>
          </a:p>
          <a:p>
            <a:pPr lvl="0" algn="r" rtl="1"/>
            <a:r>
              <a:rPr>
                <a:latin typeface="Courier"/>
              </a:rPr>
              <a:t>ls -la</a:t>
            </a:r>
            <a:r>
              <a:rPr/>
              <a:t> — קבצים כולל מוסתרים</a:t>
            </a:r>
          </a:p>
          <a:p>
            <a:pPr lvl="0" algn="r" rtl="1"/>
            <a:r>
              <a:rPr>
                <a:latin typeface="Courier"/>
              </a:rPr>
              <a:t>cd /etc</a:t>
            </a:r>
            <a:r>
              <a:rPr/>
              <a:t> (מוחלט) · </a:t>
            </a:r>
            <a:r>
              <a:rPr>
                <a:latin typeface="Courier"/>
              </a:rPr>
              <a:t>cd ..</a:t>
            </a:r>
            <a:r>
              <a:rPr/>
              <a:t> (הורה) · </a:t>
            </a:r>
            <a:r>
              <a:rPr>
                <a:latin typeface="Courier"/>
              </a:rPr>
              <a:t>cd ~</a:t>
            </a:r>
            <a:r>
              <a:rPr/>
              <a:t> (בית)</a:t>
            </a:r>
          </a:p>
          <a:p>
            <a:pPr lvl="0" algn="r" rtl="1"/>
            <a:r>
              <a:rPr>
                <a:latin typeface="Courier"/>
              </a:rPr>
              <a:t>.</a:t>
            </a:r>
            <a:r>
              <a:rPr/>
              <a:t> נוכחי · </a:t>
            </a:r>
            <a:r>
              <a:rPr>
                <a:latin typeface="Courier"/>
              </a:rPr>
              <a:t>..</a:t>
            </a:r>
            <a:r>
              <a:rPr/>
              <a:t> הורה · </a:t>
            </a:r>
            <a:r>
              <a:rPr>
                <a:latin typeface="Courier"/>
              </a:rPr>
              <a:t>~</a:t>
            </a:r>
            <a:r>
              <a:rPr/>
              <a:t> בית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קבצים ותיקיות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touch</a:t>
            </a:r>
            <a:r>
              <a:rPr/>
              <a:t> / </a:t>
            </a:r>
            <a:r>
              <a:rPr>
                <a:latin typeface="Courier"/>
              </a:rPr>
              <a:t>mkdir -p</a:t>
            </a:r>
            <a:r>
              <a:rPr/>
              <a:t> — יצירה</a:t>
            </a:r>
          </a:p>
          <a:p>
            <a:pPr lvl="0" algn="r" rtl="1"/>
            <a:r>
              <a:rPr>
                <a:latin typeface="Courier"/>
              </a:rPr>
              <a:t>cp -r</a:t>
            </a:r>
            <a:r>
              <a:rPr/>
              <a:t> / </a:t>
            </a:r>
            <a:r>
              <a:rPr>
                <a:latin typeface="Courier"/>
              </a:rPr>
              <a:t>mv</a:t>
            </a:r>
            <a:r>
              <a:rPr/>
              <a:t> — העתקה/העברה</a:t>
            </a:r>
          </a:p>
          <a:p>
            <a:pPr lvl="0" algn="r" rtl="1"/>
            <a:r>
              <a:rPr>
                <a:latin typeface="Courier"/>
              </a:rPr>
              <a:t>rm -rf</a:t>
            </a:r>
            <a:r>
              <a:rPr/>
              <a:t> — מחיקה (⚠️ ללא סל מיחזור!)</a:t>
            </a:r>
          </a:p>
          <a:p>
            <a:pPr lvl="0" algn="r" rtl="1"/>
            <a:r>
              <a:rPr>
                <a:latin typeface="Courier"/>
              </a:rPr>
              <a:t>cat</a:t>
            </a:r>
            <a:r>
              <a:rPr/>
              <a:t> / </a:t>
            </a:r>
            <a:r>
              <a:rPr>
                <a:latin typeface="Courier"/>
              </a:rPr>
              <a:t>less</a:t>
            </a:r>
            <a:r>
              <a:rPr/>
              <a:t> / </a:t>
            </a:r>
            <a:r>
              <a:rPr>
                <a:latin typeface="Courier"/>
              </a:rPr>
              <a:t>head</a:t>
            </a:r>
            <a:r>
              <a:rPr/>
              <a:t> / </a:t>
            </a:r>
            <a:r>
              <a:rPr>
                <a:latin typeface="Courier"/>
              </a:rPr>
              <a:t>tail -f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עריכה והפניית פלט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nano</a:t>
            </a:r>
            <a:r>
              <a:rPr/>
              <a:t> — פשוט (Ctrl+O שמירה, Ctrl+X יציאה)</a:t>
            </a:r>
          </a:p>
          <a:p>
            <a:pPr lvl="0" algn="r" rtl="1"/>
            <a:r>
              <a:rPr b="1"/>
              <a:t>vim</a:t>
            </a:r>
            <a:r>
              <a:rPr/>
              <a:t> — </a:t>
            </a:r>
            <a:r>
              <a:rPr>
                <a:latin typeface="Courier"/>
              </a:rPr>
              <a:t>i</a:t>
            </a:r>
            <a:r>
              <a:rPr/>
              <a:t> עריכה, </a:t>
            </a:r>
            <a:r>
              <a:rPr>
                <a:latin typeface="Courier"/>
              </a:rPr>
              <a:t>:wq</a:t>
            </a:r>
            <a:r>
              <a:rPr/>
              <a:t> שמירה, </a:t>
            </a:r>
            <a:r>
              <a:rPr>
                <a:latin typeface="Courier"/>
              </a:rPr>
              <a:t>:q!</a:t>
            </a:r>
            <a:r>
              <a:rPr/>
              <a:t> יציאה</a:t>
            </a:r>
          </a:p>
          <a:p>
            <a:pPr lvl="0" algn="r" rtl="1"/>
            <a:r>
              <a:rPr>
                <a:latin typeface="Courier"/>
              </a:rPr>
              <a:t>&gt;</a:t>
            </a:r>
            <a:r>
              <a:rPr/>
              <a:t> דורס · </a:t>
            </a:r>
            <a:r>
              <a:rPr>
                <a:latin typeface="Courier"/>
              </a:rPr>
              <a:t>&gt;&gt;</a:t>
            </a:r>
            <a:r>
              <a:rPr/>
              <a:t> מוסיף בסוף</a:t>
            </a:r>
          </a:p>
          <a:p>
            <a:pPr lvl="0" algn="r" rtl="1"/>
            <a:r>
              <a:rPr>
                <a:latin typeface="Courier"/>
              </a:rPr>
              <a:t>command &gt; out.txt 2&gt;&amp;1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הרשאות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-rwxr-xr--</a:t>
            </a:r>
            <a:r>
              <a:rPr/>
              <a:t> : בעלים / קבוצה / כולם</a:t>
            </a:r>
          </a:p>
          <a:p>
            <a:pPr lvl="0" algn="r" rtl="1"/>
            <a:r>
              <a:rPr/>
              <a:t>r=4 · w=2 · x=1 → </a:t>
            </a:r>
            <a:r>
              <a:rPr>
                <a:latin typeface="Courier"/>
              </a:rPr>
              <a:t>chmod 755</a:t>
            </a:r>
          </a:p>
          <a:p>
            <a:pPr lvl="0" algn="r" rtl="1"/>
            <a:r>
              <a:rPr>
                <a:latin typeface="Courier"/>
              </a:rPr>
              <a:t>chown user:group file</a:t>
            </a:r>
          </a:p>
          <a:p>
            <a:pPr lvl="0" algn="r" rtl="1"/>
            <a:r>
              <a:rPr/>
              <a:t>🔍 קובצי </a:t>
            </a:r>
            <a:r>
              <a:rPr b="1"/>
              <a:t>SUID</a:t>
            </a:r>
            <a:r>
              <a:rPr/>
              <a:t> → הסלמת הרשאות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sudo והרשאות-על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root</a:t>
            </a:r>
            <a:r>
              <a:rPr/>
              <a:t> = UID 0, יכול הכל</a:t>
            </a:r>
          </a:p>
          <a:p>
            <a:pPr lvl="0" algn="r" rtl="1"/>
            <a:r>
              <a:rPr>
                <a:latin typeface="Courier"/>
              </a:rPr>
              <a:t>sudo &lt;cmd&gt;</a:t>
            </a:r>
            <a:r>
              <a:rPr/>
              <a:t> — פקודה אחת כ-root</a:t>
            </a:r>
          </a:p>
          <a:p>
            <a:pPr lvl="0" algn="r" rtl="1"/>
            <a:r>
              <a:rPr b="1">
                <a:latin typeface="Courier"/>
              </a:rPr>
              <a:t>sudo -l</a:t>
            </a:r>
            <a:r>
              <a:rPr/>
              <a:t> — מה מותר לי? (בדיקה ראשונה אחרי פריצה)</a:t>
            </a:r>
          </a:p>
          <a:p>
            <a:pPr lvl="0" algn="r" rtl="1"/>
            <a:r>
              <a:rPr>
                <a:latin typeface="Courier"/>
              </a:rPr>
              <a:t>sudo su</a:t>
            </a:r>
            <a:r>
              <a:rPr/>
              <a:t> — מעטפת root מלאה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חבילות ושירותים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apt update &amp;&amp; apt full-upgrade -y</a:t>
            </a:r>
          </a:p>
          <a:p>
            <a:pPr lvl="0" algn="r" rtl="1"/>
            <a:r>
              <a:rPr>
                <a:latin typeface="Courier"/>
              </a:rPr>
              <a:t>apt install &lt;tool&gt;</a:t>
            </a:r>
            <a:r>
              <a:rPr/>
              <a:t> · </a:t>
            </a:r>
            <a:r>
              <a:rPr>
                <a:latin typeface="Courier"/>
              </a:rPr>
              <a:t>git clone</a:t>
            </a:r>
            <a:r>
              <a:rPr/>
              <a:t> + </a:t>
            </a:r>
            <a:r>
              <a:rPr>
                <a:latin typeface="Courier"/>
              </a:rPr>
              <a:t>pip install -r</a:t>
            </a:r>
          </a:p>
          <a:p>
            <a:pPr lvl="0" algn="r" rtl="1"/>
            <a:r>
              <a:rPr>
                <a:latin typeface="Courier"/>
              </a:rPr>
              <a:t>systemctl start/stop/status/enable &lt;svc&gt;</a:t>
            </a:r>
          </a:p>
          <a:p>
            <a:pPr lvl="0" algn="r" rtl="1"/>
            <a:r>
              <a:rPr/>
              <a:t>שרת מהיר: </a:t>
            </a:r>
            <a:r>
              <a:rPr>
                <a:latin typeface="Courier"/>
              </a:rPr>
              <a:t>python3 -m http.server 8000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פקודות רשת ותהליכים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ip a</a:t>
            </a:r>
            <a:r>
              <a:rPr/>
              <a:t> · </a:t>
            </a:r>
            <a:r>
              <a:rPr>
                <a:latin typeface="Courier"/>
              </a:rPr>
              <a:t>ip route</a:t>
            </a:r>
            <a:r>
              <a:rPr/>
              <a:t> · </a:t>
            </a:r>
            <a:r>
              <a:rPr>
                <a:latin typeface="Courier"/>
              </a:rPr>
              <a:t>ping -c 4</a:t>
            </a:r>
          </a:p>
          <a:p>
            <a:pPr lvl="0" algn="r" rtl="1"/>
            <a:r>
              <a:rPr>
                <a:latin typeface="Courier"/>
              </a:rPr>
              <a:t>ss -tuln</a:t>
            </a:r>
            <a:r>
              <a:rPr/>
              <a:t> — פורטים מאזינים</a:t>
            </a:r>
          </a:p>
          <a:p>
            <a:pPr lvl="0" algn="r" rtl="1"/>
            <a:r>
              <a:rPr>
                <a:latin typeface="Courier"/>
              </a:rPr>
              <a:t>curl</a:t>
            </a:r>
            <a:r>
              <a:rPr/>
              <a:t> / </a:t>
            </a:r>
            <a:r>
              <a:rPr>
                <a:latin typeface="Courier"/>
              </a:rPr>
              <a:t>wget</a:t>
            </a:r>
            <a:r>
              <a:rPr/>
              <a:t> / </a:t>
            </a:r>
            <a:r>
              <a:rPr>
                <a:latin typeface="Courier"/>
              </a:rPr>
              <a:t>ssh</a:t>
            </a:r>
          </a:p>
          <a:p>
            <a:pPr lvl="0" algn="r" rtl="1"/>
            <a:r>
              <a:rPr>
                <a:latin typeface="Courier"/>
              </a:rPr>
              <a:t>ps aux</a:t>
            </a:r>
            <a:r>
              <a:rPr/>
              <a:t> · </a:t>
            </a:r>
            <a:r>
              <a:rPr>
                <a:latin typeface="Courier"/>
              </a:rPr>
              <a:t>top</a:t>
            </a:r>
            <a:r>
              <a:rPr/>
              <a:t> · </a:t>
            </a:r>
            <a:r>
              <a:rPr>
                <a:latin typeface="Courier"/>
              </a:rPr>
              <a:t>kill -9 &lt;PID&gt;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חיפוש וצינורות (Pipes)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find / -perm -4000 2&gt;/dev/null</a:t>
            </a:r>
            <a:r>
              <a:rPr/>
              <a:t> — SUID</a:t>
            </a:r>
          </a:p>
          <a:p>
            <a:pPr lvl="0" algn="r" rtl="1"/>
            <a:r>
              <a:rPr>
                <a:latin typeface="Courier"/>
              </a:rPr>
              <a:t>grep -r "password" /var/www</a:t>
            </a:r>
          </a:p>
          <a:p>
            <a:pPr lvl="0" algn="r" rtl="1"/>
            <a:r>
              <a:rPr>
                <a:latin typeface="Courier"/>
              </a:rPr>
              <a:t>|</a:t>
            </a:r>
            <a:r>
              <a:rPr/>
              <a:t> — פלט אחד → קלט לבא</a:t>
            </a:r>
          </a:p>
          <a:p>
            <a:pPr lvl="0" algn="r" rtl="1"/>
            <a:r>
              <a:rPr>
                <a:latin typeface="Courier"/>
              </a:rPr>
              <a:t>cat passwd | grep root | wc -l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שולטים בשֶׁל, בקבצים ובעריכה</a:t>
            </a:r>
          </a:p>
          <a:p>
            <a:pPr lvl="0" algn="r" rtl="1"/>
            <a:r>
              <a:rPr/>
              <a:t>הרשאות ו-sudo = מפתח להסלמה</a:t>
            </a:r>
          </a:p>
          <a:p>
            <a:pPr lvl="0" algn="r" rtl="1"/>
            <a:r>
              <a:rPr/>
              <a:t>apt/systemctl/רשת — תשתית העבודה</a:t>
            </a:r>
          </a:p>
          <a:p>
            <a:pPr lvl="0" algn="r" rtl="1"/>
            <a:r>
              <a:rPr/>
              <a:t>find+grep+pipes = כלי הסיור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2026-08-30T21:16:58Z</dcterms:created>
  <dcterms:modified xsi:type="dcterms:W3CDTF">2026-08-30T21:16:58Z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